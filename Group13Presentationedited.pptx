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87" r:id="rId4"/>
    <p:sldId id="263" r:id="rId5"/>
    <p:sldId id="257" r:id="rId6"/>
    <p:sldId id="258" r:id="rId7"/>
    <p:sldId id="259" r:id="rId8"/>
    <p:sldId id="260" r:id="rId9"/>
    <p:sldId id="261" r:id="rId10"/>
    <p:sldId id="262"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E36133-0626-3942-DC11-8192E4584C70}" v="389" dt="2023-04-21T17:58:33.444"/>
    <p1510:client id="{1BCF3F5E-82E2-2CB8-A057-AA749EFBCFA4}" v="226" dt="2023-04-27T19:11:16.450"/>
    <p1510:client id="{3EF3E5E1-036A-39A3-0702-599554A1DB9D}" v="12" dt="2023-04-09T03:52:01.240"/>
    <p1510:client id="{6765EA35-9650-CE2A-D754-41D4941570A0}" v="37" dt="2023-04-13T17:37:31.749"/>
    <p1510:client id="{829DBEC1-8D21-E15C-076B-72EDABD80C68}" v="174" dt="2023-05-02T13:49:45.210"/>
    <p1510:client id="{88FFAA78-0030-1AD8-7757-E952DFF766C7}" v="2443" dt="2023-04-26T18:51:19.052"/>
    <p1510:client id="{8B94FC35-8003-8D08-7D0D-1B0B25EF275A}" v="32" dt="2023-04-30T19:11:38.499"/>
    <p1510:client id="{8EDF79E0-AF31-1F48-64E0-CA1469DC3C2D}" v="1189" dt="2023-04-23T20:18:11.194"/>
    <p1510:client id="{99A032DC-88F3-F266-396F-BC378BFB7BDC}" v="24" dt="2023-04-27T17:08:00.145"/>
    <p1510:client id="{DDE89A2D-E077-B04D-3072-9161F5EC620E}" v="27" dt="2023-05-01T16:47:58.931"/>
    <p1510:client id="{F19A0E5E-96E3-7F63-4D95-5FBFA086C279}" v="6" dt="2023-05-02T15:19:03.497"/>
    <p1510:client id="{F980C914-84CC-4407-A2F2-3FC4D5518B77}" v="300" dt="2023-04-09T03:44:49.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FDD482-EE09-476D-937C-D3605226B440}"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BFC5180D-EE3C-4668-B52D-E5AB598CDA5B}">
      <dgm:prSet/>
      <dgm:spPr/>
      <dgm:t>
        <a:bodyPr/>
        <a:lstStyle/>
        <a:p>
          <a:r>
            <a:rPr lang="en-US" u="sng"/>
            <a:t>Track</a:t>
          </a:r>
          <a:r>
            <a:rPr lang="en-US"/>
            <a:t>: Name of song on Spotify</a:t>
          </a:r>
        </a:p>
      </dgm:t>
    </dgm:pt>
    <dgm:pt modelId="{6181DFC5-B92D-4C35-8C81-E1FFC1FB5EB4}" type="parTrans" cxnId="{F8FE94B9-DA64-443E-A781-62FFDBE26E98}">
      <dgm:prSet/>
      <dgm:spPr/>
      <dgm:t>
        <a:bodyPr/>
        <a:lstStyle/>
        <a:p>
          <a:endParaRPr lang="en-US"/>
        </a:p>
      </dgm:t>
    </dgm:pt>
    <dgm:pt modelId="{065B2775-D6DF-46D2-8B20-76427CA70AF5}" type="sibTrans" cxnId="{F8FE94B9-DA64-443E-A781-62FFDBE26E98}">
      <dgm:prSet/>
      <dgm:spPr/>
      <dgm:t>
        <a:bodyPr/>
        <a:lstStyle/>
        <a:p>
          <a:endParaRPr lang="en-US"/>
        </a:p>
      </dgm:t>
    </dgm:pt>
    <dgm:pt modelId="{0FEA2F46-06F7-49A6-86A6-DA8FC1AA1E2E}">
      <dgm:prSet/>
      <dgm:spPr/>
      <dgm:t>
        <a:bodyPr/>
        <a:lstStyle/>
        <a:p>
          <a:r>
            <a:rPr lang="en-US" u="sng"/>
            <a:t>Artist</a:t>
          </a:r>
          <a:r>
            <a:rPr lang="en-US"/>
            <a:t>: Artist who created the song</a:t>
          </a:r>
        </a:p>
      </dgm:t>
    </dgm:pt>
    <dgm:pt modelId="{C85B63A3-217E-454C-9F65-6CB107CB5EFB}" type="parTrans" cxnId="{0E4459EB-256D-4FFB-AFFB-2D03CCC311CC}">
      <dgm:prSet/>
      <dgm:spPr/>
      <dgm:t>
        <a:bodyPr/>
        <a:lstStyle/>
        <a:p>
          <a:endParaRPr lang="en-US"/>
        </a:p>
      </dgm:t>
    </dgm:pt>
    <dgm:pt modelId="{17ABA3C7-1789-4ABA-BCA4-3005E4B5DCBE}" type="sibTrans" cxnId="{0E4459EB-256D-4FFB-AFFB-2D03CCC311CC}">
      <dgm:prSet/>
      <dgm:spPr/>
      <dgm:t>
        <a:bodyPr/>
        <a:lstStyle/>
        <a:p>
          <a:endParaRPr lang="en-US"/>
        </a:p>
      </dgm:t>
    </dgm:pt>
    <dgm:pt modelId="{8DA8606D-5883-49C7-B85E-1CD8517F3CD0}">
      <dgm:prSet/>
      <dgm:spPr/>
      <dgm:t>
        <a:bodyPr/>
        <a:lstStyle/>
        <a:p>
          <a:r>
            <a:rPr lang="en-US" u="sng"/>
            <a:t>Album</a:t>
          </a:r>
          <a:r>
            <a:rPr lang="en-US"/>
            <a:t>: Album the song is on, on Spotify</a:t>
          </a:r>
        </a:p>
      </dgm:t>
    </dgm:pt>
    <dgm:pt modelId="{928051AA-44BA-476B-9502-17F4100B367D}" type="parTrans" cxnId="{29D08A86-27D4-4201-B6AD-FB02E7ED3285}">
      <dgm:prSet/>
      <dgm:spPr/>
      <dgm:t>
        <a:bodyPr/>
        <a:lstStyle/>
        <a:p>
          <a:endParaRPr lang="en-US"/>
        </a:p>
      </dgm:t>
    </dgm:pt>
    <dgm:pt modelId="{EA29A05C-334C-404C-AADF-14E107800CC5}" type="sibTrans" cxnId="{29D08A86-27D4-4201-B6AD-FB02E7ED3285}">
      <dgm:prSet/>
      <dgm:spPr/>
      <dgm:t>
        <a:bodyPr/>
        <a:lstStyle/>
        <a:p>
          <a:endParaRPr lang="en-US"/>
        </a:p>
      </dgm:t>
    </dgm:pt>
    <dgm:pt modelId="{B09B34D6-0E2A-4D9D-9BEA-AD752994EE92}">
      <dgm:prSet/>
      <dgm:spPr/>
      <dgm:t>
        <a:bodyPr/>
        <a:lstStyle/>
        <a:p>
          <a:r>
            <a:rPr lang="en-US" u="sng"/>
            <a:t>Title</a:t>
          </a:r>
          <a:r>
            <a:rPr lang="en-US"/>
            <a:t>: Title of the "official" version of the song on YouTube</a:t>
          </a:r>
        </a:p>
      </dgm:t>
    </dgm:pt>
    <dgm:pt modelId="{8FCDA27B-95BE-4753-AAA7-F91AC54606F3}" type="parTrans" cxnId="{D3031BDE-AA3E-4AD3-B97A-85F40F9AB915}">
      <dgm:prSet/>
      <dgm:spPr/>
      <dgm:t>
        <a:bodyPr/>
        <a:lstStyle/>
        <a:p>
          <a:endParaRPr lang="en-US"/>
        </a:p>
      </dgm:t>
    </dgm:pt>
    <dgm:pt modelId="{89C0C50A-A970-4208-AC44-A9C8BD63E945}" type="sibTrans" cxnId="{D3031BDE-AA3E-4AD3-B97A-85F40F9AB915}">
      <dgm:prSet/>
      <dgm:spPr/>
      <dgm:t>
        <a:bodyPr/>
        <a:lstStyle/>
        <a:p>
          <a:endParaRPr lang="en-US"/>
        </a:p>
      </dgm:t>
    </dgm:pt>
    <dgm:pt modelId="{4C95F710-C03E-47F9-B1BE-90458FF1340F}">
      <dgm:prSet/>
      <dgm:spPr/>
      <dgm:t>
        <a:bodyPr/>
        <a:lstStyle/>
        <a:p>
          <a:r>
            <a:rPr lang="en-US" u="sng"/>
            <a:t>Channel</a:t>
          </a:r>
          <a:r>
            <a:rPr lang="en-US"/>
            <a:t>: Channel this "official" version of the song is on</a:t>
          </a:r>
        </a:p>
      </dgm:t>
    </dgm:pt>
    <dgm:pt modelId="{8027B701-4B29-4023-9A60-3F88A937F7DA}" type="parTrans" cxnId="{05EAA428-F694-432C-BEB1-5AA0F8692CF1}">
      <dgm:prSet/>
      <dgm:spPr/>
      <dgm:t>
        <a:bodyPr/>
        <a:lstStyle/>
        <a:p>
          <a:endParaRPr lang="en-US"/>
        </a:p>
      </dgm:t>
    </dgm:pt>
    <dgm:pt modelId="{CCDFE063-4845-4A08-BCCB-D5827A1A0A38}" type="sibTrans" cxnId="{05EAA428-F694-432C-BEB1-5AA0F8692CF1}">
      <dgm:prSet/>
      <dgm:spPr/>
      <dgm:t>
        <a:bodyPr/>
        <a:lstStyle/>
        <a:p>
          <a:endParaRPr lang="en-US"/>
        </a:p>
      </dgm:t>
    </dgm:pt>
    <dgm:pt modelId="{C70E0247-0283-4AF7-81F5-B02886842E68}" type="pres">
      <dgm:prSet presAssocID="{C1FDD482-EE09-476D-937C-D3605226B440}" presName="vert0" presStyleCnt="0">
        <dgm:presLayoutVars>
          <dgm:dir/>
          <dgm:animOne val="branch"/>
          <dgm:animLvl val="lvl"/>
        </dgm:presLayoutVars>
      </dgm:prSet>
      <dgm:spPr/>
    </dgm:pt>
    <dgm:pt modelId="{0D809F1F-4712-4F12-B2E5-685EA63E33FE}" type="pres">
      <dgm:prSet presAssocID="{BFC5180D-EE3C-4668-B52D-E5AB598CDA5B}" presName="thickLine" presStyleLbl="alignNode1" presStyleIdx="0" presStyleCnt="5"/>
      <dgm:spPr/>
    </dgm:pt>
    <dgm:pt modelId="{D5ED3418-52D4-428A-A7A9-039423DDD16C}" type="pres">
      <dgm:prSet presAssocID="{BFC5180D-EE3C-4668-B52D-E5AB598CDA5B}" presName="horz1" presStyleCnt="0"/>
      <dgm:spPr/>
    </dgm:pt>
    <dgm:pt modelId="{A85C994E-FAE0-490A-9B84-25405115B279}" type="pres">
      <dgm:prSet presAssocID="{BFC5180D-EE3C-4668-B52D-E5AB598CDA5B}" presName="tx1" presStyleLbl="revTx" presStyleIdx="0" presStyleCnt="5"/>
      <dgm:spPr/>
    </dgm:pt>
    <dgm:pt modelId="{AA767858-6559-4BEC-ADA6-89F91070471C}" type="pres">
      <dgm:prSet presAssocID="{BFC5180D-EE3C-4668-B52D-E5AB598CDA5B}" presName="vert1" presStyleCnt="0"/>
      <dgm:spPr/>
    </dgm:pt>
    <dgm:pt modelId="{ECDA2895-3A9A-4CAF-842A-9092792C162E}" type="pres">
      <dgm:prSet presAssocID="{0FEA2F46-06F7-49A6-86A6-DA8FC1AA1E2E}" presName="thickLine" presStyleLbl="alignNode1" presStyleIdx="1" presStyleCnt="5"/>
      <dgm:spPr/>
    </dgm:pt>
    <dgm:pt modelId="{8480DCB3-30CC-43A3-A6E4-24C4FD2C5009}" type="pres">
      <dgm:prSet presAssocID="{0FEA2F46-06F7-49A6-86A6-DA8FC1AA1E2E}" presName="horz1" presStyleCnt="0"/>
      <dgm:spPr/>
    </dgm:pt>
    <dgm:pt modelId="{5F35298C-B5C8-4470-9B4D-3B1B25BBCED6}" type="pres">
      <dgm:prSet presAssocID="{0FEA2F46-06F7-49A6-86A6-DA8FC1AA1E2E}" presName="tx1" presStyleLbl="revTx" presStyleIdx="1" presStyleCnt="5"/>
      <dgm:spPr/>
    </dgm:pt>
    <dgm:pt modelId="{7F37A20D-DC84-4252-A05C-212722DFBC2F}" type="pres">
      <dgm:prSet presAssocID="{0FEA2F46-06F7-49A6-86A6-DA8FC1AA1E2E}" presName="vert1" presStyleCnt="0"/>
      <dgm:spPr/>
    </dgm:pt>
    <dgm:pt modelId="{7F91C9D1-7B86-46CC-B478-5F2C4D3A941D}" type="pres">
      <dgm:prSet presAssocID="{8DA8606D-5883-49C7-B85E-1CD8517F3CD0}" presName="thickLine" presStyleLbl="alignNode1" presStyleIdx="2" presStyleCnt="5"/>
      <dgm:spPr/>
    </dgm:pt>
    <dgm:pt modelId="{C1BD8C4D-15B2-457B-A342-90AFB602FAED}" type="pres">
      <dgm:prSet presAssocID="{8DA8606D-5883-49C7-B85E-1CD8517F3CD0}" presName="horz1" presStyleCnt="0"/>
      <dgm:spPr/>
    </dgm:pt>
    <dgm:pt modelId="{47F912FA-D6C5-4479-BD76-40987DB3E1B8}" type="pres">
      <dgm:prSet presAssocID="{8DA8606D-5883-49C7-B85E-1CD8517F3CD0}" presName="tx1" presStyleLbl="revTx" presStyleIdx="2" presStyleCnt="5"/>
      <dgm:spPr/>
    </dgm:pt>
    <dgm:pt modelId="{DA2B9E71-39E9-4627-A725-D3952D6B0D30}" type="pres">
      <dgm:prSet presAssocID="{8DA8606D-5883-49C7-B85E-1CD8517F3CD0}" presName="vert1" presStyleCnt="0"/>
      <dgm:spPr/>
    </dgm:pt>
    <dgm:pt modelId="{891CD291-4DB6-4C5A-ADAA-6F72BC17BFE0}" type="pres">
      <dgm:prSet presAssocID="{B09B34D6-0E2A-4D9D-9BEA-AD752994EE92}" presName="thickLine" presStyleLbl="alignNode1" presStyleIdx="3" presStyleCnt="5"/>
      <dgm:spPr/>
    </dgm:pt>
    <dgm:pt modelId="{D7695332-F65F-46A5-B0B1-801C69C82D6F}" type="pres">
      <dgm:prSet presAssocID="{B09B34D6-0E2A-4D9D-9BEA-AD752994EE92}" presName="horz1" presStyleCnt="0"/>
      <dgm:spPr/>
    </dgm:pt>
    <dgm:pt modelId="{F6BA3EC6-19DB-4832-B92E-DCC776A694FB}" type="pres">
      <dgm:prSet presAssocID="{B09B34D6-0E2A-4D9D-9BEA-AD752994EE92}" presName="tx1" presStyleLbl="revTx" presStyleIdx="3" presStyleCnt="5"/>
      <dgm:spPr/>
    </dgm:pt>
    <dgm:pt modelId="{49F937A7-08C2-4B03-868A-D5FC35D82A1E}" type="pres">
      <dgm:prSet presAssocID="{B09B34D6-0E2A-4D9D-9BEA-AD752994EE92}" presName="vert1" presStyleCnt="0"/>
      <dgm:spPr/>
    </dgm:pt>
    <dgm:pt modelId="{49D28A03-2828-492E-A664-E545A340D9E3}" type="pres">
      <dgm:prSet presAssocID="{4C95F710-C03E-47F9-B1BE-90458FF1340F}" presName="thickLine" presStyleLbl="alignNode1" presStyleIdx="4" presStyleCnt="5"/>
      <dgm:spPr/>
    </dgm:pt>
    <dgm:pt modelId="{F1C18D91-0AFA-4758-BA21-3D09F049A86C}" type="pres">
      <dgm:prSet presAssocID="{4C95F710-C03E-47F9-B1BE-90458FF1340F}" presName="horz1" presStyleCnt="0"/>
      <dgm:spPr/>
    </dgm:pt>
    <dgm:pt modelId="{DCB49CA6-5282-4B5C-96AB-E84FA36EAC73}" type="pres">
      <dgm:prSet presAssocID="{4C95F710-C03E-47F9-B1BE-90458FF1340F}" presName="tx1" presStyleLbl="revTx" presStyleIdx="4" presStyleCnt="5"/>
      <dgm:spPr/>
    </dgm:pt>
    <dgm:pt modelId="{2D2FF971-28A2-4088-B2E6-57CEFE7F9BA6}" type="pres">
      <dgm:prSet presAssocID="{4C95F710-C03E-47F9-B1BE-90458FF1340F}" presName="vert1" presStyleCnt="0"/>
      <dgm:spPr/>
    </dgm:pt>
  </dgm:ptLst>
  <dgm:cxnLst>
    <dgm:cxn modelId="{05EAA428-F694-432C-BEB1-5AA0F8692CF1}" srcId="{C1FDD482-EE09-476D-937C-D3605226B440}" destId="{4C95F710-C03E-47F9-B1BE-90458FF1340F}" srcOrd="4" destOrd="0" parTransId="{8027B701-4B29-4023-9A60-3F88A937F7DA}" sibTransId="{CCDFE063-4845-4A08-BCCB-D5827A1A0A38}"/>
    <dgm:cxn modelId="{A44EB448-41FB-494A-89DB-A3C88B0A5FCA}" type="presOf" srcId="{C1FDD482-EE09-476D-937C-D3605226B440}" destId="{C70E0247-0283-4AF7-81F5-B02886842E68}" srcOrd="0" destOrd="0" presId="urn:microsoft.com/office/officeart/2008/layout/LinedList"/>
    <dgm:cxn modelId="{29D08A86-27D4-4201-B6AD-FB02E7ED3285}" srcId="{C1FDD482-EE09-476D-937C-D3605226B440}" destId="{8DA8606D-5883-49C7-B85E-1CD8517F3CD0}" srcOrd="2" destOrd="0" parTransId="{928051AA-44BA-476B-9502-17F4100B367D}" sibTransId="{EA29A05C-334C-404C-AADF-14E107800CC5}"/>
    <dgm:cxn modelId="{A964DD93-2BE7-47A0-85F9-9611184A003D}" type="presOf" srcId="{8DA8606D-5883-49C7-B85E-1CD8517F3CD0}" destId="{47F912FA-D6C5-4479-BD76-40987DB3E1B8}" srcOrd="0" destOrd="0" presId="urn:microsoft.com/office/officeart/2008/layout/LinedList"/>
    <dgm:cxn modelId="{3406E7A1-6746-4363-8154-010CB9B13AF2}" type="presOf" srcId="{B09B34D6-0E2A-4D9D-9BEA-AD752994EE92}" destId="{F6BA3EC6-19DB-4832-B92E-DCC776A694FB}" srcOrd="0" destOrd="0" presId="urn:microsoft.com/office/officeart/2008/layout/LinedList"/>
    <dgm:cxn modelId="{F8FE94B9-DA64-443E-A781-62FFDBE26E98}" srcId="{C1FDD482-EE09-476D-937C-D3605226B440}" destId="{BFC5180D-EE3C-4668-B52D-E5AB598CDA5B}" srcOrd="0" destOrd="0" parTransId="{6181DFC5-B92D-4C35-8C81-E1FFC1FB5EB4}" sibTransId="{065B2775-D6DF-46D2-8B20-76427CA70AF5}"/>
    <dgm:cxn modelId="{403B56C2-286D-434B-AFCB-AAE16A378A0F}" type="presOf" srcId="{0FEA2F46-06F7-49A6-86A6-DA8FC1AA1E2E}" destId="{5F35298C-B5C8-4470-9B4D-3B1B25BBCED6}" srcOrd="0" destOrd="0" presId="urn:microsoft.com/office/officeart/2008/layout/LinedList"/>
    <dgm:cxn modelId="{21A8FECD-8F3D-4DBC-910E-355D1CCDA9A4}" type="presOf" srcId="{BFC5180D-EE3C-4668-B52D-E5AB598CDA5B}" destId="{A85C994E-FAE0-490A-9B84-25405115B279}" srcOrd="0" destOrd="0" presId="urn:microsoft.com/office/officeart/2008/layout/LinedList"/>
    <dgm:cxn modelId="{D3031BDE-AA3E-4AD3-B97A-85F40F9AB915}" srcId="{C1FDD482-EE09-476D-937C-D3605226B440}" destId="{B09B34D6-0E2A-4D9D-9BEA-AD752994EE92}" srcOrd="3" destOrd="0" parTransId="{8FCDA27B-95BE-4753-AAA7-F91AC54606F3}" sibTransId="{89C0C50A-A970-4208-AC44-A9C8BD63E945}"/>
    <dgm:cxn modelId="{0E4459EB-256D-4FFB-AFFB-2D03CCC311CC}" srcId="{C1FDD482-EE09-476D-937C-D3605226B440}" destId="{0FEA2F46-06F7-49A6-86A6-DA8FC1AA1E2E}" srcOrd="1" destOrd="0" parTransId="{C85B63A3-217E-454C-9F65-6CB107CB5EFB}" sibTransId="{17ABA3C7-1789-4ABA-BCA4-3005E4B5DCBE}"/>
    <dgm:cxn modelId="{A39209FB-1770-4DE6-9986-7BC2E36BE2FF}" type="presOf" srcId="{4C95F710-C03E-47F9-B1BE-90458FF1340F}" destId="{DCB49CA6-5282-4B5C-96AB-E84FA36EAC73}" srcOrd="0" destOrd="0" presId="urn:microsoft.com/office/officeart/2008/layout/LinedList"/>
    <dgm:cxn modelId="{30B544A1-77C5-48E4-911F-6B5A92B1A958}" type="presParOf" srcId="{C70E0247-0283-4AF7-81F5-B02886842E68}" destId="{0D809F1F-4712-4F12-B2E5-685EA63E33FE}" srcOrd="0" destOrd="0" presId="urn:microsoft.com/office/officeart/2008/layout/LinedList"/>
    <dgm:cxn modelId="{60133BE5-9712-4FA0-B7E1-41162DCEE46F}" type="presParOf" srcId="{C70E0247-0283-4AF7-81F5-B02886842E68}" destId="{D5ED3418-52D4-428A-A7A9-039423DDD16C}" srcOrd="1" destOrd="0" presId="urn:microsoft.com/office/officeart/2008/layout/LinedList"/>
    <dgm:cxn modelId="{469FD668-A41C-4E7E-A4E4-EC6FF2ADC4D8}" type="presParOf" srcId="{D5ED3418-52D4-428A-A7A9-039423DDD16C}" destId="{A85C994E-FAE0-490A-9B84-25405115B279}" srcOrd="0" destOrd="0" presId="urn:microsoft.com/office/officeart/2008/layout/LinedList"/>
    <dgm:cxn modelId="{AF0D4325-0651-459A-8C0F-AB71E97EDA21}" type="presParOf" srcId="{D5ED3418-52D4-428A-A7A9-039423DDD16C}" destId="{AA767858-6559-4BEC-ADA6-89F91070471C}" srcOrd="1" destOrd="0" presId="urn:microsoft.com/office/officeart/2008/layout/LinedList"/>
    <dgm:cxn modelId="{339AB105-E1A0-415F-A50D-9CD7D4AF081D}" type="presParOf" srcId="{C70E0247-0283-4AF7-81F5-B02886842E68}" destId="{ECDA2895-3A9A-4CAF-842A-9092792C162E}" srcOrd="2" destOrd="0" presId="urn:microsoft.com/office/officeart/2008/layout/LinedList"/>
    <dgm:cxn modelId="{A0F8EBEB-15D8-4CF5-A92E-D71659ECC739}" type="presParOf" srcId="{C70E0247-0283-4AF7-81F5-B02886842E68}" destId="{8480DCB3-30CC-43A3-A6E4-24C4FD2C5009}" srcOrd="3" destOrd="0" presId="urn:microsoft.com/office/officeart/2008/layout/LinedList"/>
    <dgm:cxn modelId="{A8499DA0-78A5-4A78-9029-1774C10695C0}" type="presParOf" srcId="{8480DCB3-30CC-43A3-A6E4-24C4FD2C5009}" destId="{5F35298C-B5C8-4470-9B4D-3B1B25BBCED6}" srcOrd="0" destOrd="0" presId="urn:microsoft.com/office/officeart/2008/layout/LinedList"/>
    <dgm:cxn modelId="{FE0B60DA-66A9-4796-82B8-EC4267936107}" type="presParOf" srcId="{8480DCB3-30CC-43A3-A6E4-24C4FD2C5009}" destId="{7F37A20D-DC84-4252-A05C-212722DFBC2F}" srcOrd="1" destOrd="0" presId="urn:microsoft.com/office/officeart/2008/layout/LinedList"/>
    <dgm:cxn modelId="{E4A0FB62-2AF4-4A14-9F3E-D32C86A943B9}" type="presParOf" srcId="{C70E0247-0283-4AF7-81F5-B02886842E68}" destId="{7F91C9D1-7B86-46CC-B478-5F2C4D3A941D}" srcOrd="4" destOrd="0" presId="urn:microsoft.com/office/officeart/2008/layout/LinedList"/>
    <dgm:cxn modelId="{88B7B62D-9724-40CE-8152-DE5547F474AF}" type="presParOf" srcId="{C70E0247-0283-4AF7-81F5-B02886842E68}" destId="{C1BD8C4D-15B2-457B-A342-90AFB602FAED}" srcOrd="5" destOrd="0" presId="urn:microsoft.com/office/officeart/2008/layout/LinedList"/>
    <dgm:cxn modelId="{714E6649-040F-44B2-801A-90460714CBE4}" type="presParOf" srcId="{C1BD8C4D-15B2-457B-A342-90AFB602FAED}" destId="{47F912FA-D6C5-4479-BD76-40987DB3E1B8}" srcOrd="0" destOrd="0" presId="urn:microsoft.com/office/officeart/2008/layout/LinedList"/>
    <dgm:cxn modelId="{DAFC11C7-D114-4FA4-A893-18B004356886}" type="presParOf" srcId="{C1BD8C4D-15B2-457B-A342-90AFB602FAED}" destId="{DA2B9E71-39E9-4627-A725-D3952D6B0D30}" srcOrd="1" destOrd="0" presId="urn:microsoft.com/office/officeart/2008/layout/LinedList"/>
    <dgm:cxn modelId="{4D0474DE-9CF5-41F8-9AA1-AD8195750E3B}" type="presParOf" srcId="{C70E0247-0283-4AF7-81F5-B02886842E68}" destId="{891CD291-4DB6-4C5A-ADAA-6F72BC17BFE0}" srcOrd="6" destOrd="0" presId="urn:microsoft.com/office/officeart/2008/layout/LinedList"/>
    <dgm:cxn modelId="{1FA4D088-4B90-499B-B20A-B124A4021779}" type="presParOf" srcId="{C70E0247-0283-4AF7-81F5-B02886842E68}" destId="{D7695332-F65F-46A5-B0B1-801C69C82D6F}" srcOrd="7" destOrd="0" presId="urn:microsoft.com/office/officeart/2008/layout/LinedList"/>
    <dgm:cxn modelId="{FCCBFEBC-689A-42AC-9686-D54FF235098C}" type="presParOf" srcId="{D7695332-F65F-46A5-B0B1-801C69C82D6F}" destId="{F6BA3EC6-19DB-4832-B92E-DCC776A694FB}" srcOrd="0" destOrd="0" presId="urn:microsoft.com/office/officeart/2008/layout/LinedList"/>
    <dgm:cxn modelId="{EEA62C6C-9A35-46F0-BBF5-C9B044475D2F}" type="presParOf" srcId="{D7695332-F65F-46A5-B0B1-801C69C82D6F}" destId="{49F937A7-08C2-4B03-868A-D5FC35D82A1E}" srcOrd="1" destOrd="0" presId="urn:microsoft.com/office/officeart/2008/layout/LinedList"/>
    <dgm:cxn modelId="{8FD8899C-84FE-43B9-812F-05E555F05F4C}" type="presParOf" srcId="{C70E0247-0283-4AF7-81F5-B02886842E68}" destId="{49D28A03-2828-492E-A664-E545A340D9E3}" srcOrd="8" destOrd="0" presId="urn:microsoft.com/office/officeart/2008/layout/LinedList"/>
    <dgm:cxn modelId="{6D777EBC-2780-439A-8BCF-D9E0C61E9B5E}" type="presParOf" srcId="{C70E0247-0283-4AF7-81F5-B02886842E68}" destId="{F1C18D91-0AFA-4758-BA21-3D09F049A86C}" srcOrd="9" destOrd="0" presId="urn:microsoft.com/office/officeart/2008/layout/LinedList"/>
    <dgm:cxn modelId="{BF75470F-64B2-4D25-82EE-77F50480D457}" type="presParOf" srcId="{F1C18D91-0AFA-4758-BA21-3D09F049A86C}" destId="{DCB49CA6-5282-4B5C-96AB-E84FA36EAC73}" srcOrd="0" destOrd="0" presId="urn:microsoft.com/office/officeart/2008/layout/LinedList"/>
    <dgm:cxn modelId="{4D17EB11-C212-4696-ABB4-89C4938EDDA0}" type="presParOf" srcId="{F1C18D91-0AFA-4758-BA21-3D09F049A86C}" destId="{2D2FF971-28A2-4088-B2E6-57CEFE7F9BA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809F1F-4712-4F12-B2E5-685EA63E33FE}">
      <dsp:nvSpPr>
        <dsp:cNvPr id="0" name=""/>
        <dsp:cNvSpPr/>
      </dsp:nvSpPr>
      <dsp:spPr>
        <a:xfrm>
          <a:off x="0" y="675"/>
          <a:ext cx="6291714"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5C994E-FAE0-490A-9B84-25405115B279}">
      <dsp:nvSpPr>
        <dsp:cNvPr id="0" name=""/>
        <dsp:cNvSpPr/>
      </dsp:nvSpPr>
      <dsp:spPr>
        <a:xfrm>
          <a:off x="0" y="67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u="sng" kern="1200"/>
            <a:t>Track</a:t>
          </a:r>
          <a:r>
            <a:rPr lang="en-US" sz="3100" kern="1200"/>
            <a:t>: Name of song on Spotify</a:t>
          </a:r>
        </a:p>
      </dsp:txBody>
      <dsp:txXfrm>
        <a:off x="0" y="675"/>
        <a:ext cx="6291714" cy="1105876"/>
      </dsp:txXfrm>
    </dsp:sp>
    <dsp:sp modelId="{ECDA2895-3A9A-4CAF-842A-9092792C162E}">
      <dsp:nvSpPr>
        <dsp:cNvPr id="0" name=""/>
        <dsp:cNvSpPr/>
      </dsp:nvSpPr>
      <dsp:spPr>
        <a:xfrm>
          <a:off x="0" y="1106552"/>
          <a:ext cx="6291714" cy="0"/>
        </a:xfrm>
        <a:prstGeom prst="line">
          <a:avLst/>
        </a:prstGeom>
        <a:solidFill>
          <a:schemeClr val="accent5">
            <a:hueOff val="-1689636"/>
            <a:satOff val="-4355"/>
            <a:lumOff val="-2941"/>
            <a:alphaOff val="0"/>
          </a:schemeClr>
        </a:solidFill>
        <a:ln w="12700" cap="flat" cmpd="sng" algn="ctr">
          <a:solidFill>
            <a:schemeClr val="accent5">
              <a:hueOff val="-1689636"/>
              <a:satOff val="-4355"/>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35298C-B5C8-4470-9B4D-3B1B25BBCED6}">
      <dsp:nvSpPr>
        <dsp:cNvPr id="0" name=""/>
        <dsp:cNvSpPr/>
      </dsp:nvSpPr>
      <dsp:spPr>
        <a:xfrm>
          <a:off x="0" y="110655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u="sng" kern="1200"/>
            <a:t>Artist</a:t>
          </a:r>
          <a:r>
            <a:rPr lang="en-US" sz="3100" kern="1200"/>
            <a:t>: Artist who created the song</a:t>
          </a:r>
        </a:p>
      </dsp:txBody>
      <dsp:txXfrm>
        <a:off x="0" y="1106552"/>
        <a:ext cx="6291714" cy="1105876"/>
      </dsp:txXfrm>
    </dsp:sp>
    <dsp:sp modelId="{7F91C9D1-7B86-46CC-B478-5F2C4D3A941D}">
      <dsp:nvSpPr>
        <dsp:cNvPr id="0" name=""/>
        <dsp:cNvSpPr/>
      </dsp:nvSpPr>
      <dsp:spPr>
        <a:xfrm>
          <a:off x="0" y="2212429"/>
          <a:ext cx="6291714" cy="0"/>
        </a:xfrm>
        <a:prstGeom prst="line">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F912FA-D6C5-4479-BD76-40987DB3E1B8}">
      <dsp:nvSpPr>
        <dsp:cNvPr id="0" name=""/>
        <dsp:cNvSpPr/>
      </dsp:nvSpPr>
      <dsp:spPr>
        <a:xfrm>
          <a:off x="0" y="2212429"/>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u="sng" kern="1200"/>
            <a:t>Album</a:t>
          </a:r>
          <a:r>
            <a:rPr lang="en-US" sz="3100" kern="1200"/>
            <a:t>: Album the song is on, on Spotify</a:t>
          </a:r>
        </a:p>
      </dsp:txBody>
      <dsp:txXfrm>
        <a:off x="0" y="2212429"/>
        <a:ext cx="6291714" cy="1105876"/>
      </dsp:txXfrm>
    </dsp:sp>
    <dsp:sp modelId="{891CD291-4DB6-4C5A-ADAA-6F72BC17BFE0}">
      <dsp:nvSpPr>
        <dsp:cNvPr id="0" name=""/>
        <dsp:cNvSpPr/>
      </dsp:nvSpPr>
      <dsp:spPr>
        <a:xfrm>
          <a:off x="0" y="3318305"/>
          <a:ext cx="6291714" cy="0"/>
        </a:xfrm>
        <a:prstGeom prst="line">
          <a:avLst/>
        </a:prstGeom>
        <a:solidFill>
          <a:schemeClr val="accent5">
            <a:hueOff val="-5068907"/>
            <a:satOff val="-13064"/>
            <a:lumOff val="-8824"/>
            <a:alphaOff val="0"/>
          </a:schemeClr>
        </a:solidFill>
        <a:ln w="12700" cap="flat" cmpd="sng" algn="ctr">
          <a:solidFill>
            <a:schemeClr val="accent5">
              <a:hueOff val="-5068907"/>
              <a:satOff val="-13064"/>
              <a:lumOff val="-88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BA3EC6-19DB-4832-B92E-DCC776A694FB}">
      <dsp:nvSpPr>
        <dsp:cNvPr id="0" name=""/>
        <dsp:cNvSpPr/>
      </dsp:nvSpPr>
      <dsp:spPr>
        <a:xfrm>
          <a:off x="0" y="331830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u="sng" kern="1200"/>
            <a:t>Title</a:t>
          </a:r>
          <a:r>
            <a:rPr lang="en-US" sz="3100" kern="1200"/>
            <a:t>: Title of the "official" version of the song on YouTube</a:t>
          </a:r>
        </a:p>
      </dsp:txBody>
      <dsp:txXfrm>
        <a:off x="0" y="3318305"/>
        <a:ext cx="6291714" cy="1105876"/>
      </dsp:txXfrm>
    </dsp:sp>
    <dsp:sp modelId="{49D28A03-2828-492E-A664-E545A340D9E3}">
      <dsp:nvSpPr>
        <dsp:cNvPr id="0" name=""/>
        <dsp:cNvSpPr/>
      </dsp:nvSpPr>
      <dsp:spPr>
        <a:xfrm>
          <a:off x="0" y="4424182"/>
          <a:ext cx="6291714"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B49CA6-5282-4B5C-96AB-E84FA36EAC73}">
      <dsp:nvSpPr>
        <dsp:cNvPr id="0" name=""/>
        <dsp:cNvSpPr/>
      </dsp:nvSpPr>
      <dsp:spPr>
        <a:xfrm>
          <a:off x="0" y="442418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u="sng" kern="1200"/>
            <a:t>Channel</a:t>
          </a:r>
          <a:r>
            <a:rPr lang="en-US" sz="3100" kern="1200"/>
            <a:t>: Channel this "official" version of the song is on</a:t>
          </a:r>
        </a:p>
      </dsp:txBody>
      <dsp:txXfrm>
        <a:off x="0" y="4424182"/>
        <a:ext cx="6291714" cy="110587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4-27T17:02:55.357"/>
    </inkml:context>
    <inkml:brush xml:id="br0">
      <inkml:brushProperty name="width" value="0.1" units="cm"/>
      <inkml:brushProperty name="height" value="0.1" units="cm"/>
    </inkml:brush>
  </inkml:definitions>
  <inkml:trace contextRef="#ctx0" brushRef="#br0">16267 8642 16383 0 0,'0'2'0'0'0,"0"1"0"0"0,-1 1 0 0 0,0 2 0 0 0,-1 0 0 0 0,1 2 0 0 0,0-1 0 0 0,0 1 0 0 0,1 1 0 0 0,-1 1 0 0 0,-1 1 0 0 0,0 1 0 0 0,-1 3 0 0 0,0 1 0 0 0,0 3 0 0 0,0 0 0 0 0,0 1 0 0 0,0 0 0 0 0,0-3 0 0 0,1-3 0 0 0,0-3 0 0 0,0-1 0 0 0,1 0 0 0 0,1-1 0 0 0,0-1 0 0 0,0 0 0 0 0,0-1 0 0 0,0 0 0 0 0,0 0 0 0 0,0 0 0 0 0,0 1 0 0 0,0 0 0 0 0,0 2 0 0 0,0 2 0 0 0,0 1 0 0 0,0 4 0 0 0,0 5 0 0 0,0-1 0 0 0,0-2 0 0 0,0-2 0 0 0,0 2 0 0 0,0-1 0 0 0,0-1 0 0 0,-1 2 0 0 0,-2-1 0 0 0,1-1 0 0 0,0-1 0 0 0,1 2 0 0 0,0 0 0 0 0,0 3 0 0 0,1 0 0 0 0,0 0 0 0 0,0-3 0 0 0,0 3 0 0 0,0-1 0 0 0,1 2 0 0 0,-1 0 0 0 0,0-2 0 0 0,0 8 0 0 0,0 2 0 0 0,0-3 0 0 0,0-2 0 0 0,0-4 0 0 0,0 7 0 0 0,0 0 0 0 0,0-1 0 0 0,0-3 0 0 0,0-3 0 0 0,0 0 0 0 0,0-1 0 0 0,1 2 0 0 0,3-2 0 0 0,0-1 0 0 0,0-3 0 0 0,-2-1 0 0 0,0-2 0 0 0,-1 0 0 0 0,-1 16 0 0 0,0 4 0 0 0,0 0 0 0 0,0 0 0 0 0,0 0 0 0 0,0-1 0 0 0,3 12 0 0 0,2 5 0 0 0,-1 11 0 0 0,0 1 0 0 0,-1-5 0 0 0,-2-5 0 0 0,0 11 0 0 0,-1 2 0 0 0,0-6 0 0 0,0 12 0 0 0,0 0 0 0 0,4 17 0 0 0,2 0 0 0 0,-1-10 0 0 0,-1-6 0 0 0,2-3 0 0 0,0 16 0 0 0,-1 0 0 0 0,-2-9 0 0 0,-1-12 0 0 0,0-11 0 0 0,-2-9 0 0 0,0 12 0 0 0,0 2 0 0 0,0-3 0 0 0,-1-8 0 0 0,1-6 0 0 0,0-5 0 0 0,0-3 0 0 0,0 23 0 0 0,0 9 0 0 0,0-3 0 0 0,0-5 0 0 0,0-1 0 0 0,0-4 0 0 0,0-5 0 0 0,0-5 0 0 0,0 2 0 0 0,0 17 0 0 0,0 5 0 0 0,-3 2 0 0 0,-1-4 0 0 0,0-8 0 0 0,1-1 0 0 0,1-5 0 0 0,1 1 0 0 0,0 4 0 0 0,1-2 0 0 0,0 2 0 0 0,2-3 0 0 0,1 2 0 0 0,-1 3 0 0 0,0 4 0 0 0,-1 9 0 0 0,0 5 0 0 0,0 8 0 0 0,-1 7 0 0 0,0 12 0 0 0,0 8 0 0 0,0 2 0 0 0,0 6 0 0 0,0 1 0 0 0,0-1 0 0 0,2-10 0 0 0,2-5 0 0 0,0-2 0 0 0,-1-6 0 0 0,-1-2 0 0 0,-1 2 0 0 0,0 2 0 0 0,3 9 0 0 0,2 10 0 0 0,-1 16 0 0 0,-2 9 0 0 0,0 5 0 0 0,-5 2 0 0 0,-3-1 0 0 0,-3-6 0 0 0,-1-11 0 0 0,2-8 0 0 0,1-14 0 0 0,6-7 0 0 0,3-9 0 0 0,3-9 0 0 0,1 1 0 0 0,0-4 0 0 0,-2 4 0 0 0,-2-2 0 0 0,-1 4 0 0 0,-1 5 0 0 0,-4 5 0 0 0,-2 4 0 0 0,0 3 0 0 0,1 2 0 0 0,1 1 0 0 0,1-6 0 0 0,4-8 0 0 0,5-8 0 0 0,0-12 0 0 0,2-14 0 0 0,-2-10 0 0 0,-1-10 0 0 0,-2-12 0 0 0,-1-7 0 0 0,-2-6 0 0 0,-1-4 0 0 0,0-2 0 0 0,0-1 0 0 0,0 1 0 0 0,-1 2 0 0 0,1 3 0 0 0,-1 4 0 0 0,-1 0 0 0 0,0 3 0 0 0,1-1 0 0 0,0 0 0 0 0,0 2 0 0 0,1 1 0 0 0,0 2 0 0 0,0 0 0 0 0,0-1 0 0 0,0 7 0 0 0,0 1 0 0 0,0-1 0 0 0,0-3 0 0 0,0 11 0 0 0,-1 3 0 0 0,0-3 0 0 0,-1 10 0 0 0,1 3 0 0 0,0-5 0 0 0,0-4 0 0 0,1-6 0 0 0,0 14 0 0 0,2 6 0 0 0,0-5 0 0 0,1-5 0 0 0,-2-5 0 0 0,1-6 0 0 0,-1 9 0 0 0,-1 0 0 0 0,0-5 0 0 0,0-6 0 0 0,0-6 0 0 0,0-4 0 0 0,0-4 0 0 0,-2 1 0 0 0,0-2 0 0 0,-1-1 0 0 0,1-3 0 0 0,1-2 0 0 0,0-2 0 0 0,1 0 0 0 0,0-1 0 0 0,0 0 0 0 0,0 1 0 0 0,0 2 0 0 0,0 2 0 0 0,0 0 0 0 0,0 2 0 0 0,0 1 0 0 0,0-2 0 0 0,0 1 0 0 0,0-2 0 0 0,0-1 0 0 0,0-2 0 0 0,0-1 0 0 0,0 0 0 0 0,0 0 0 0 0,0-1 0 0 0,0 0 0 0 0,0 0 0 0 0,0 0 0 0 0,0 0 0 0 0,0 2 0 0 0,0 1 0 0 0,0 2 0 0 0,0-1 0 0 0,0 2 0 0 0,0-2 0 0 0,0 0 0 0 0,1-2 0 0 0,1-2 0 0 0,0-1 0 0 0,-1 0 0 0 0,1 0 0 0 0,0 1 0 0 0,0 0 0 0 0,0 0 0 0 0,0-1 0 0 0,0-1 0 0 0,0 1 0 0 0,-1 0 0 0 0,0 1 0 0 0,-1 0 0 0 0,0 0 0 0 0,1 0 0 0 0,-2 0 0 0 0,1 1 0 0 0,0-1 0 0 0,1 0 0 0 0,1 1 0 0 0,0-1 0 0 0,-1 0 0 0 0,0 1 0 0 0,1-2 0 0 0,-1-1 0 0 0,1 0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customXml" Target="../ink/ink1.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en.wikipedia.org/wiki/Pitch_class" TargetMode="External"/><Relationship Id="rId2" Type="http://schemas.openxmlformats.org/officeDocument/2006/relationships/hyperlink" Target="https://www.kaggle.com/datasets/salvatorerastelli/spotify-and-youtub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picture containing music, guitar, mandolin, building material&#10;&#10;Description automatically generated">
            <a:extLst>
              <a:ext uri="{FF2B5EF4-FFF2-40B4-BE49-F238E27FC236}">
                <a16:creationId xmlns:a16="http://schemas.microsoft.com/office/drawing/2014/main" id="{14357DBF-A28C-8D55-EF0A-2816655A4DC7}"/>
              </a:ext>
            </a:extLst>
          </p:cNvPr>
          <p:cNvPicPr>
            <a:picLocks noChangeAspect="1"/>
          </p:cNvPicPr>
          <p:nvPr/>
        </p:nvPicPr>
        <p:blipFill rotWithShape="1">
          <a:blip r:embed="rId2">
            <a:alphaModFix amt="50000"/>
          </a:blip>
          <a:srcRect r="16889" b="1"/>
          <a:stretch/>
        </p:blipFill>
        <p:spPr>
          <a:xfrm>
            <a:off x="20" y="1"/>
            <a:ext cx="12191980" cy="6857999"/>
          </a:xfrm>
          <a:prstGeom prst="rect">
            <a:avLst/>
          </a:prstGeom>
        </p:spPr>
      </p:pic>
      <p:sp>
        <p:nvSpPr>
          <p:cNvPr id="2" name="Title 1"/>
          <p:cNvSpPr>
            <a:spLocks noGrp="1"/>
          </p:cNvSpPr>
          <p:nvPr>
            <p:ph type="ctrTitle"/>
          </p:nvPr>
        </p:nvSpPr>
        <p:spPr>
          <a:xfrm>
            <a:off x="1524000" y="1226035"/>
            <a:ext cx="9144000" cy="1241743"/>
          </a:xfrm>
        </p:spPr>
        <p:txBody>
          <a:bodyPr>
            <a:normAutofit/>
          </a:bodyPr>
          <a:lstStyle/>
          <a:p>
            <a:r>
              <a:rPr lang="en-US" sz="7200" dirty="0">
                <a:solidFill>
                  <a:srgbClr val="FFFFFF"/>
                </a:solidFill>
                <a:cs typeface="Calibri Light"/>
              </a:rPr>
              <a:t>Musical Regression</a:t>
            </a:r>
          </a:p>
        </p:txBody>
      </p:sp>
      <p:sp>
        <p:nvSpPr>
          <p:cNvPr id="3" name="Subtitle 2"/>
          <p:cNvSpPr>
            <a:spLocks noGrp="1"/>
          </p:cNvSpPr>
          <p:nvPr>
            <p:ph type="subTitle" idx="1"/>
          </p:nvPr>
        </p:nvSpPr>
        <p:spPr>
          <a:xfrm>
            <a:off x="300653" y="4346016"/>
            <a:ext cx="9144000" cy="1098395"/>
          </a:xfrm>
        </p:spPr>
        <p:txBody>
          <a:bodyPr vert="horz" lIns="91440" tIns="45720" rIns="91440" bIns="45720" rtlCol="0">
            <a:normAutofit/>
          </a:bodyPr>
          <a:lstStyle/>
          <a:p>
            <a:endParaRPr lang="en-US" dirty="0">
              <a:solidFill>
                <a:srgbClr val="FFFFFF"/>
              </a:solidFill>
              <a:cs typeface="Calibri"/>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1500"/>
                                  </p:stCondLst>
                                  <p:endCondLst>
                                    <p:cond evt="begin" delay="0">
                                      <p:tn val="5"/>
                                    </p:cond>
                                  </p:end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5496C-CF18-9936-21EE-080AC07BFE9E}"/>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cs typeface="Calibri Light"/>
              </a:rPr>
              <a:t>What are we Doing?</a:t>
            </a:r>
            <a:endParaRPr lang="en-US" sz="560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C637DB60-5154-A6A3-C72B-5F29B6DEE2EA}"/>
              </a:ext>
            </a:extLst>
          </p:cNvPr>
          <p:cNvSpPr>
            <a:spLocks noGrp="1"/>
          </p:cNvSpPr>
          <p:nvPr>
            <p:ph idx="1"/>
          </p:nvPr>
        </p:nvSpPr>
        <p:spPr>
          <a:xfrm>
            <a:off x="5948939" y="966555"/>
            <a:ext cx="5637829" cy="5618102"/>
          </a:xfrm>
        </p:spPr>
        <p:txBody>
          <a:bodyPr vert="horz" lIns="91440" tIns="45720" rIns="91440" bIns="45720" rtlCol="0" anchor="t">
            <a:normAutofit/>
          </a:bodyPr>
          <a:lstStyle/>
          <a:p>
            <a:r>
              <a:rPr lang="en-US" sz="2000">
                <a:solidFill>
                  <a:schemeClr val="tx1">
                    <a:alpha val="80000"/>
                  </a:schemeClr>
                </a:solidFill>
                <a:latin typeface="Arial"/>
                <a:cs typeface="Arial"/>
              </a:rPr>
              <a:t>We will create, run, and analyze multiple linear regression models to determine what goes into making a good and popular song.</a:t>
            </a:r>
            <a:endParaRPr lang="en-US" sz="2000" dirty="0">
              <a:latin typeface="Arial"/>
              <a:cs typeface="Arial"/>
            </a:endParaRPr>
          </a:p>
          <a:p>
            <a:endParaRPr lang="en-US" sz="2000" dirty="0">
              <a:latin typeface="Arial"/>
              <a:cs typeface="Arial"/>
            </a:endParaRPr>
          </a:p>
          <a:p>
            <a:r>
              <a:rPr lang="en-US" sz="2000" dirty="0">
                <a:solidFill>
                  <a:schemeClr val="tx1">
                    <a:alpha val="80000"/>
                  </a:schemeClr>
                </a:solidFill>
                <a:latin typeface="Arial"/>
                <a:cs typeface="Arial"/>
              </a:rPr>
              <a:t>This could be important for any up-and-coming artist or even if you yourself are trying to compose a masterpiece for a family event or gathering.</a:t>
            </a:r>
          </a:p>
          <a:p>
            <a:endParaRPr lang="en-US" sz="2000" dirty="0">
              <a:latin typeface="Arial"/>
              <a:cs typeface="Arial"/>
            </a:endParaRPr>
          </a:p>
          <a:p>
            <a:r>
              <a:rPr lang="en-US" sz="2000" u="sng" dirty="0">
                <a:solidFill>
                  <a:schemeClr val="tx1">
                    <a:alpha val="80000"/>
                  </a:schemeClr>
                </a:solidFill>
                <a:latin typeface="Arial"/>
                <a:cs typeface="Arial"/>
              </a:rPr>
              <a:t>The Problem is Simple:</a:t>
            </a:r>
            <a:endParaRPr lang="en-US" sz="2000" dirty="0">
              <a:solidFill>
                <a:schemeClr val="tx1">
                  <a:alpha val="80000"/>
                </a:schemeClr>
              </a:solidFill>
              <a:latin typeface="Arial"/>
              <a:cs typeface="Arial"/>
            </a:endParaRPr>
          </a:p>
          <a:p>
            <a:pPr>
              <a:buFont typeface="Calibri,Sans-Serif" panose="020B0604020202020204" pitchFamily="34" charset="0"/>
              <a:buChar char="-"/>
            </a:pPr>
            <a:r>
              <a:rPr lang="en-US" sz="2000" dirty="0">
                <a:solidFill>
                  <a:schemeClr val="tx1">
                    <a:alpha val="80000"/>
                  </a:schemeClr>
                </a:solidFill>
                <a:latin typeface="Arial"/>
                <a:cs typeface="Arial"/>
              </a:rPr>
              <a:t>What makes a song a good song?</a:t>
            </a:r>
          </a:p>
          <a:p>
            <a:pPr>
              <a:buFont typeface="Calibri,Sans-Serif" panose="020B0604020202020204" pitchFamily="34" charset="0"/>
              <a:buChar char="-"/>
            </a:pPr>
            <a:r>
              <a:rPr lang="en-US" sz="2000" dirty="0">
                <a:solidFill>
                  <a:schemeClr val="tx1">
                    <a:alpha val="80000"/>
                  </a:schemeClr>
                </a:solidFill>
                <a:latin typeface="Arial"/>
                <a:cs typeface="Arial"/>
              </a:rPr>
              <a:t>What really matters into making a song that lots of people listen to?</a:t>
            </a:r>
            <a:endParaRPr lang="en-US" dirty="0">
              <a:solidFill>
                <a:schemeClr val="tx1">
                  <a:alpha val="80000"/>
                </a:schemeClr>
              </a:solidFill>
            </a:endParaRPr>
          </a:p>
        </p:txBody>
      </p:sp>
    </p:spTree>
    <p:extLst>
      <p:ext uri="{BB962C8B-B14F-4D97-AF65-F5344CB8AC3E}">
        <p14:creationId xmlns:p14="http://schemas.microsoft.com/office/powerpoint/2010/main" val="341516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9E47E-3EE1-F2B6-10BC-09AC6A54E117}"/>
              </a:ext>
            </a:extLst>
          </p:cNvPr>
          <p:cNvSpPr>
            <a:spLocks noGrp="1"/>
          </p:cNvSpPr>
          <p:nvPr>
            <p:ph type="title"/>
          </p:nvPr>
        </p:nvSpPr>
        <p:spPr>
          <a:solidFill>
            <a:schemeClr val="accent1">
              <a:lumMod val="40000"/>
              <a:lumOff val="60000"/>
            </a:schemeClr>
          </a:solidFill>
        </p:spPr>
        <p:txBody>
          <a:bodyPr/>
          <a:lstStyle/>
          <a:p>
            <a:r>
              <a:rPr lang="en-US" dirty="0">
                <a:ea typeface="Calibri Light"/>
                <a:cs typeface="Calibri Light"/>
              </a:rPr>
              <a:t>Objectives</a:t>
            </a:r>
            <a:endParaRPr lang="en-US" dirty="0"/>
          </a:p>
        </p:txBody>
      </p:sp>
      <p:sp>
        <p:nvSpPr>
          <p:cNvPr id="3" name="Content Placeholder 2">
            <a:extLst>
              <a:ext uri="{FF2B5EF4-FFF2-40B4-BE49-F238E27FC236}">
                <a16:creationId xmlns:a16="http://schemas.microsoft.com/office/drawing/2014/main" id="{27714983-B702-10AB-A619-390D69396EBC}"/>
              </a:ext>
            </a:extLst>
          </p:cNvPr>
          <p:cNvSpPr>
            <a:spLocks noGrp="1"/>
          </p:cNvSpPr>
          <p:nvPr>
            <p:ph idx="1"/>
          </p:nvPr>
        </p:nvSpPr>
        <p:spPr/>
        <p:txBody>
          <a:bodyPr vert="horz" lIns="91440" tIns="45720" rIns="91440" bIns="45720" rtlCol="0" anchor="t">
            <a:normAutofit/>
          </a:bodyPr>
          <a:lstStyle/>
          <a:p>
            <a:r>
              <a:rPr lang="en-US" sz="2000" dirty="0">
                <a:solidFill>
                  <a:schemeClr val="tx1">
                    <a:alpha val="80000"/>
                  </a:schemeClr>
                </a:solidFill>
                <a:ea typeface="+mn-lt"/>
                <a:cs typeface="+mn-lt"/>
              </a:rPr>
              <a:t>We will create, run, and analyze multiple linear regression models to determine what goes into making a good and popular song.</a:t>
            </a:r>
            <a:endParaRPr lang="en-US" sz="2000" dirty="0">
              <a:ea typeface="+mn-lt"/>
              <a:cs typeface="+mn-lt"/>
            </a:endParaRPr>
          </a:p>
          <a:p>
            <a:endParaRPr lang="en-US" sz="2000" dirty="0">
              <a:ea typeface="+mn-lt"/>
              <a:cs typeface="+mn-lt"/>
            </a:endParaRPr>
          </a:p>
          <a:p>
            <a:r>
              <a:rPr lang="en-US" sz="2000" dirty="0">
                <a:solidFill>
                  <a:schemeClr val="tx1">
                    <a:alpha val="80000"/>
                  </a:schemeClr>
                </a:solidFill>
                <a:ea typeface="+mn-lt"/>
                <a:cs typeface="+mn-lt"/>
              </a:rPr>
              <a:t>This could be important for any up-and-coming artist or even if you yourself are trying to compose a masterpiece for a family event or gathering.</a:t>
            </a:r>
          </a:p>
          <a:p>
            <a:endParaRPr lang="en-US" sz="2000" dirty="0">
              <a:ea typeface="+mn-lt"/>
              <a:cs typeface="+mn-lt"/>
            </a:endParaRPr>
          </a:p>
          <a:p>
            <a:r>
              <a:rPr lang="en-US" sz="2000" u="sng" dirty="0">
                <a:solidFill>
                  <a:schemeClr val="tx1">
                    <a:alpha val="80000"/>
                  </a:schemeClr>
                </a:solidFill>
                <a:ea typeface="+mn-lt"/>
                <a:cs typeface="+mn-lt"/>
              </a:rPr>
              <a:t>The Problem is Simple:</a:t>
            </a:r>
            <a:endParaRPr lang="en-US" sz="2000" dirty="0">
              <a:solidFill>
                <a:schemeClr val="tx1">
                  <a:alpha val="80000"/>
                </a:schemeClr>
              </a:solidFill>
              <a:ea typeface="+mn-lt"/>
              <a:cs typeface="+mn-lt"/>
            </a:endParaRPr>
          </a:p>
          <a:p>
            <a:pPr>
              <a:buFont typeface="Calibri,Sans-Serif" panose="020B0604020202020204" pitchFamily="34" charset="0"/>
              <a:buChar char="-"/>
            </a:pPr>
            <a:r>
              <a:rPr lang="en-US" sz="2000" dirty="0">
                <a:solidFill>
                  <a:schemeClr val="tx1">
                    <a:alpha val="80000"/>
                  </a:schemeClr>
                </a:solidFill>
                <a:latin typeface="Arial"/>
                <a:cs typeface="Arial"/>
              </a:rPr>
              <a:t>What makes a song a good song?</a:t>
            </a:r>
            <a:endParaRPr lang="en-US" sz="2000">
              <a:solidFill>
                <a:schemeClr val="tx1">
                  <a:alpha val="80000"/>
                </a:schemeClr>
              </a:solidFill>
              <a:latin typeface="Arial"/>
              <a:cs typeface="Arial"/>
            </a:endParaRPr>
          </a:p>
          <a:p>
            <a:pPr>
              <a:buFont typeface="Calibri,Sans-Serif" panose="020B0604020202020204" pitchFamily="34" charset="0"/>
              <a:buChar char="-"/>
            </a:pPr>
            <a:r>
              <a:rPr lang="en-US" sz="2000" dirty="0">
                <a:solidFill>
                  <a:schemeClr val="tx1">
                    <a:alpha val="80000"/>
                  </a:schemeClr>
                </a:solidFill>
                <a:latin typeface="Arial"/>
                <a:cs typeface="Arial"/>
              </a:rPr>
              <a:t>What really matters into making a song that lots of people listen to?</a:t>
            </a:r>
            <a:endParaRPr lang="en-US" dirty="0"/>
          </a:p>
        </p:txBody>
      </p:sp>
    </p:spTree>
    <p:extLst>
      <p:ext uri="{BB962C8B-B14F-4D97-AF65-F5344CB8AC3E}">
        <p14:creationId xmlns:p14="http://schemas.microsoft.com/office/powerpoint/2010/main" val="4294900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6037F9-3B0D-F2AB-B617-CFA3D8A3A53C}"/>
              </a:ext>
            </a:extLst>
          </p:cNvPr>
          <p:cNvSpPr>
            <a:spLocks noGrp="1"/>
          </p:cNvSpPr>
          <p:nvPr>
            <p:ph type="title"/>
          </p:nvPr>
        </p:nvSpPr>
        <p:spPr>
          <a:xfrm>
            <a:off x="4572001" y="601744"/>
            <a:ext cx="6781800" cy="1338696"/>
          </a:xfrm>
          <a:solidFill>
            <a:schemeClr val="accent1">
              <a:lumMod val="40000"/>
              <a:lumOff val="60000"/>
            </a:schemeClr>
          </a:solidFill>
        </p:spPr>
        <p:txBody>
          <a:bodyPr>
            <a:normAutofit/>
          </a:bodyPr>
          <a:lstStyle/>
          <a:p>
            <a:r>
              <a:rPr lang="en-US" dirty="0">
                <a:cs typeface="Calibri Light"/>
              </a:rPr>
              <a:t>Our Data Set</a:t>
            </a:r>
            <a:endParaRPr lang="en-US" dirty="0"/>
          </a:p>
        </p:txBody>
      </p:sp>
      <p:pic>
        <p:nvPicPr>
          <p:cNvPr id="5" name="Picture 4" descr="Graph on document with pen">
            <a:extLst>
              <a:ext uri="{FF2B5EF4-FFF2-40B4-BE49-F238E27FC236}">
                <a16:creationId xmlns:a16="http://schemas.microsoft.com/office/drawing/2014/main" id="{1FF5542D-A5FC-1685-C4DA-7B568653FCB5}"/>
              </a:ext>
            </a:extLst>
          </p:cNvPr>
          <p:cNvPicPr>
            <a:picLocks noChangeAspect="1"/>
          </p:cNvPicPr>
          <p:nvPr/>
        </p:nvPicPr>
        <p:blipFill rotWithShape="1">
          <a:blip r:embed="rId2"/>
          <a:srcRect l="38780" r="24728" b="-3"/>
          <a:stretch/>
        </p:blipFill>
        <p:spPr>
          <a:xfrm>
            <a:off x="20" y="31112"/>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49BB21FC-658C-9B3B-1173-E3F1080A6111}"/>
              </a:ext>
            </a:extLst>
          </p:cNvPr>
          <p:cNvSpPr>
            <a:spLocks noGrp="1"/>
          </p:cNvSpPr>
          <p:nvPr>
            <p:ph idx="1"/>
          </p:nvPr>
        </p:nvSpPr>
        <p:spPr>
          <a:xfrm>
            <a:off x="4572001" y="2201958"/>
            <a:ext cx="6781800" cy="4273954"/>
          </a:xfrm>
        </p:spPr>
        <p:txBody>
          <a:bodyPr vert="horz" lIns="91440" tIns="45720" rIns="91440" bIns="45720" rtlCol="0" anchor="t">
            <a:noAutofit/>
          </a:bodyPr>
          <a:lstStyle/>
          <a:p>
            <a:r>
              <a:rPr lang="en-US" sz="2000" dirty="0">
                <a:ea typeface="+mn-lt"/>
                <a:cs typeface="+mn-lt"/>
              </a:rPr>
              <a:t>We found the data we used in this project on </a:t>
            </a:r>
            <a:r>
              <a:rPr lang="en-US" sz="2000" u="sng" dirty="0">
                <a:ea typeface="+mn-lt"/>
                <a:cs typeface="+mn-lt"/>
              </a:rPr>
              <a:t>kaggle.com</a:t>
            </a:r>
            <a:r>
              <a:rPr lang="en-US" sz="2000" dirty="0">
                <a:ea typeface="+mn-lt"/>
                <a:cs typeface="+mn-lt"/>
              </a:rPr>
              <a:t>, it was put together by Salvatore Rastelli and 2 others, and was last updated February 7</a:t>
            </a:r>
            <a:r>
              <a:rPr lang="en-US" sz="2000" baseline="30000" dirty="0">
                <a:ea typeface="+mn-lt"/>
                <a:cs typeface="+mn-lt"/>
              </a:rPr>
              <a:t>th</a:t>
            </a:r>
            <a:r>
              <a:rPr lang="en-US" sz="2000" dirty="0">
                <a:ea typeface="+mn-lt"/>
                <a:cs typeface="+mn-lt"/>
              </a:rPr>
              <a:t>, 2023. This dataset has S</a:t>
            </a:r>
            <a:r>
              <a:rPr lang="en-US" sz="2000" u="sng" dirty="0">
                <a:ea typeface="+mn-lt"/>
                <a:cs typeface="+mn-lt"/>
              </a:rPr>
              <a:t>potify and YouTube data </a:t>
            </a:r>
            <a:r>
              <a:rPr lang="en-US" sz="2000" dirty="0">
                <a:ea typeface="+mn-lt"/>
                <a:cs typeface="+mn-lt"/>
              </a:rPr>
              <a:t>for over </a:t>
            </a:r>
            <a:r>
              <a:rPr lang="en-US" sz="2000" u="sng" dirty="0">
                <a:ea typeface="+mn-lt"/>
                <a:cs typeface="+mn-lt"/>
              </a:rPr>
              <a:t>20,700 songs</a:t>
            </a:r>
            <a:r>
              <a:rPr lang="en-US" sz="2000" dirty="0">
                <a:ea typeface="+mn-lt"/>
                <a:cs typeface="+mn-lt"/>
              </a:rPr>
              <a:t> and has </a:t>
            </a:r>
            <a:r>
              <a:rPr lang="en-US" sz="2000" u="sng" dirty="0">
                <a:ea typeface="+mn-lt"/>
                <a:cs typeface="+mn-lt"/>
              </a:rPr>
              <a:t>26 variables</a:t>
            </a:r>
            <a:r>
              <a:rPr lang="en-US" sz="2000" dirty="0">
                <a:ea typeface="+mn-lt"/>
                <a:cs typeface="+mn-lt"/>
              </a:rPr>
              <a:t> both numerical and categorical.</a:t>
            </a:r>
          </a:p>
          <a:p>
            <a:endParaRPr lang="en-US" sz="2000" dirty="0">
              <a:ea typeface="Calibri"/>
              <a:cs typeface="Calibri"/>
            </a:endParaRPr>
          </a:p>
          <a:p>
            <a:r>
              <a:rPr lang="en-US" sz="2000" dirty="0">
                <a:ea typeface="Calibri"/>
                <a:cs typeface="Calibri"/>
              </a:rPr>
              <a:t>We removed a few of those variables as they wouldn't be that useful to us, we removed observations that had empty cells, and then cut the observations down to 4500, so that SAS would work well enough and we'd still have a considerable amount of observations.</a:t>
            </a:r>
          </a:p>
          <a:p>
            <a:endParaRPr lang="en-US" sz="2000" dirty="0">
              <a:ea typeface="Calibri"/>
              <a:cs typeface="Calibri"/>
            </a:endParaRPr>
          </a:p>
          <a:p>
            <a:endParaRPr lang="en-US" sz="1700">
              <a:cs typeface="Calibri"/>
            </a:endParaRPr>
          </a:p>
          <a:p>
            <a:pPr marL="0" indent="0">
              <a:buNone/>
            </a:pPr>
            <a:endParaRPr lang="en-US" sz="1700">
              <a:cs typeface="Calibri"/>
            </a:endParaRPr>
          </a:p>
          <a:p>
            <a:endParaRPr lang="en-US" sz="1700">
              <a:ea typeface="Calibri" panose="020F0502020204030204"/>
              <a:cs typeface="Calibri"/>
            </a:endParaRPr>
          </a:p>
        </p:txBody>
      </p:sp>
    </p:spTree>
    <p:extLst>
      <p:ext uri="{BB962C8B-B14F-4D97-AF65-F5344CB8AC3E}">
        <p14:creationId xmlns:p14="http://schemas.microsoft.com/office/powerpoint/2010/main" val="3841414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3E3A233E-13F9-0B11-193D-3F8886290CCE}"/>
              </a:ext>
            </a:extLst>
          </p:cNvPr>
          <p:cNvSpPr>
            <a:spLocks noGrp="1"/>
          </p:cNvSpPr>
          <p:nvPr>
            <p:ph type="title"/>
          </p:nvPr>
        </p:nvSpPr>
        <p:spPr>
          <a:xfrm>
            <a:off x="838200" y="643467"/>
            <a:ext cx="2951205" cy="5571066"/>
          </a:xfrm>
        </p:spPr>
        <p:txBody>
          <a:bodyPr>
            <a:normAutofit/>
          </a:bodyPr>
          <a:lstStyle/>
          <a:p>
            <a:r>
              <a:rPr lang="en-US">
                <a:solidFill>
                  <a:srgbClr val="FFFFFF"/>
                </a:solidFill>
                <a:cs typeface="Calibri Light"/>
              </a:rPr>
              <a:t>Variables: Pt.1</a:t>
            </a:r>
            <a:endParaRPr lang="en-US">
              <a:solidFill>
                <a:srgbClr val="FFFFFF"/>
              </a:solidFill>
            </a:endParaRPr>
          </a:p>
        </p:txBody>
      </p:sp>
      <p:graphicFrame>
        <p:nvGraphicFramePr>
          <p:cNvPr id="5" name="Content Placeholder 2">
            <a:extLst>
              <a:ext uri="{FF2B5EF4-FFF2-40B4-BE49-F238E27FC236}">
                <a16:creationId xmlns:a16="http://schemas.microsoft.com/office/drawing/2014/main" id="{4AC946D8-07FD-AAAD-81E3-DFB7AA565FB1}"/>
              </a:ext>
            </a:extLst>
          </p:cNvPr>
          <p:cNvGraphicFramePr>
            <a:graphicFrameLocks noGrp="1"/>
          </p:cNvGraphicFramePr>
          <p:nvPr>
            <p:ph idx="1"/>
            <p:extLst>
              <p:ext uri="{D42A27DB-BD31-4B8C-83A1-F6EECF244321}">
                <p14:modId xmlns:p14="http://schemas.microsoft.com/office/powerpoint/2010/main" val="3392499433"/>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7411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170C1-EDB2-715D-92FC-3EF97A48ABBB}"/>
              </a:ext>
            </a:extLst>
          </p:cNvPr>
          <p:cNvSpPr>
            <a:spLocks noGrp="1"/>
          </p:cNvSpPr>
          <p:nvPr>
            <p:ph type="title"/>
          </p:nvPr>
        </p:nvSpPr>
        <p:spPr/>
        <p:txBody>
          <a:bodyPr/>
          <a:lstStyle/>
          <a:p>
            <a:r>
              <a:rPr lang="en-US" dirty="0">
                <a:cs typeface="Calibri Light"/>
              </a:rPr>
              <a:t>Variables: Pt.2</a:t>
            </a:r>
            <a:endParaRPr lang="en-US" dirty="0"/>
          </a:p>
        </p:txBody>
      </p:sp>
      <p:sp>
        <p:nvSpPr>
          <p:cNvPr id="3" name="Content Placeholder 2">
            <a:extLst>
              <a:ext uri="{FF2B5EF4-FFF2-40B4-BE49-F238E27FC236}">
                <a16:creationId xmlns:a16="http://schemas.microsoft.com/office/drawing/2014/main" id="{4BC74B71-351B-5684-9182-6E4B72691131}"/>
              </a:ext>
            </a:extLst>
          </p:cNvPr>
          <p:cNvSpPr>
            <a:spLocks noGrp="1"/>
          </p:cNvSpPr>
          <p:nvPr>
            <p:ph idx="1"/>
          </p:nvPr>
        </p:nvSpPr>
        <p:spPr>
          <a:xfrm>
            <a:off x="7922" y="1825625"/>
            <a:ext cx="12216735" cy="5020031"/>
          </a:xfrm>
          <a:solidFill>
            <a:schemeClr val="accent2">
              <a:lumMod val="20000"/>
              <a:lumOff val="80000"/>
            </a:schemeClr>
          </a:solidFill>
        </p:spPr>
        <p:txBody>
          <a:bodyPr vert="horz" lIns="91440" tIns="45720" rIns="91440" bIns="45720" rtlCol="0" anchor="t">
            <a:normAutofit/>
          </a:bodyPr>
          <a:lstStyle/>
          <a:p>
            <a:pPr marL="0" indent="0">
              <a:buNone/>
            </a:pPr>
            <a:r>
              <a:rPr lang="en-US" u="sng" dirty="0">
                <a:cs typeface="Calibri" panose="020F0502020204030204"/>
              </a:rPr>
              <a:t>Streams</a:t>
            </a:r>
            <a:r>
              <a:rPr lang="en-US" dirty="0">
                <a:cs typeface="Calibri" panose="020F0502020204030204"/>
              </a:rPr>
              <a:t>: Number of plays the song has on Spotify</a:t>
            </a:r>
          </a:p>
          <a:p>
            <a:pPr marL="0" indent="0">
              <a:buNone/>
            </a:pPr>
            <a:r>
              <a:rPr lang="en-US" u="sng" dirty="0">
                <a:cs typeface="Calibri" panose="020F0502020204030204"/>
              </a:rPr>
              <a:t>Views</a:t>
            </a:r>
            <a:r>
              <a:rPr lang="en-US" dirty="0">
                <a:cs typeface="Calibri" panose="020F0502020204030204"/>
              </a:rPr>
              <a:t>: Number of views the "official" version has on YouTube</a:t>
            </a:r>
          </a:p>
          <a:p>
            <a:pPr marL="0" indent="0">
              <a:buNone/>
            </a:pPr>
            <a:r>
              <a:rPr lang="en-US" u="sng" dirty="0">
                <a:cs typeface="Calibri" panose="020F0502020204030204"/>
              </a:rPr>
              <a:t>Comments</a:t>
            </a:r>
            <a:r>
              <a:rPr lang="en-US" dirty="0">
                <a:cs typeface="Calibri" panose="020F0502020204030204"/>
              </a:rPr>
              <a:t>: Number of comments the "official" version has</a:t>
            </a:r>
          </a:p>
          <a:p>
            <a:pPr marL="0" indent="0">
              <a:buNone/>
            </a:pPr>
            <a:r>
              <a:rPr lang="en-US" u="sng" dirty="0">
                <a:cs typeface="Calibri" panose="020F0502020204030204"/>
              </a:rPr>
              <a:t>Likes</a:t>
            </a:r>
            <a:r>
              <a:rPr lang="en-US" dirty="0">
                <a:cs typeface="Calibri" panose="020F0502020204030204"/>
              </a:rPr>
              <a:t>: Number of likes the "official" version has</a:t>
            </a:r>
          </a:p>
          <a:p>
            <a:pPr marL="0" indent="0">
              <a:buNone/>
            </a:pPr>
            <a:r>
              <a:rPr lang="en-US" b="1" u="sng" err="1">
                <a:cs typeface="Calibri" panose="020F0502020204030204"/>
              </a:rPr>
              <a:t>Total_Listens</a:t>
            </a:r>
            <a:r>
              <a:rPr lang="en-US">
                <a:cs typeface="Calibri" panose="020F0502020204030204"/>
              </a:rPr>
              <a:t>: Streams + Views (Our response variable)</a:t>
            </a:r>
            <a:endParaRPr lang="en-US">
              <a:ea typeface="Calibri"/>
              <a:cs typeface="Calibri" panose="020F0502020204030204"/>
            </a:endParaRPr>
          </a:p>
        </p:txBody>
      </p:sp>
    </p:spTree>
    <p:extLst>
      <p:ext uri="{BB962C8B-B14F-4D97-AF65-F5344CB8AC3E}">
        <p14:creationId xmlns:p14="http://schemas.microsoft.com/office/powerpoint/2010/main" val="195673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31539-DAC9-A6A2-B945-6A17BA3D6B7F}"/>
              </a:ext>
            </a:extLst>
          </p:cNvPr>
          <p:cNvSpPr>
            <a:spLocks noGrp="1"/>
          </p:cNvSpPr>
          <p:nvPr>
            <p:ph type="title"/>
          </p:nvPr>
        </p:nvSpPr>
        <p:spPr/>
        <p:txBody>
          <a:bodyPr/>
          <a:lstStyle/>
          <a:p>
            <a:r>
              <a:rPr lang="en-US" dirty="0">
                <a:cs typeface="Calibri Light"/>
              </a:rPr>
              <a:t>Variables: Pt.3</a:t>
            </a:r>
            <a:endParaRPr lang="en-US" dirty="0"/>
          </a:p>
        </p:txBody>
      </p:sp>
      <p:sp>
        <p:nvSpPr>
          <p:cNvPr id="3" name="Content Placeholder 2">
            <a:extLst>
              <a:ext uri="{FF2B5EF4-FFF2-40B4-BE49-F238E27FC236}">
                <a16:creationId xmlns:a16="http://schemas.microsoft.com/office/drawing/2014/main" id="{598A8D12-6C3C-EDCD-BD6A-D2DB8CAE291D}"/>
              </a:ext>
            </a:extLst>
          </p:cNvPr>
          <p:cNvSpPr>
            <a:spLocks noGrp="1"/>
          </p:cNvSpPr>
          <p:nvPr>
            <p:ph idx="1"/>
          </p:nvPr>
        </p:nvSpPr>
        <p:spPr>
          <a:xfrm>
            <a:off x="3398" y="1825625"/>
            <a:ext cx="12194911" cy="5030828"/>
          </a:xfrm>
          <a:solidFill>
            <a:schemeClr val="accent2">
              <a:lumMod val="20000"/>
              <a:lumOff val="80000"/>
            </a:schemeClr>
          </a:solidFill>
        </p:spPr>
        <p:txBody>
          <a:bodyPr vert="horz" lIns="91440" tIns="45720" rIns="91440" bIns="45720" rtlCol="0" anchor="t">
            <a:normAutofit/>
          </a:bodyPr>
          <a:lstStyle/>
          <a:p>
            <a:pPr marL="0" indent="0">
              <a:buNone/>
            </a:pPr>
            <a:r>
              <a:rPr lang="en-US" u="sng" err="1">
                <a:cs typeface="Calibri" panose="020F0502020204030204"/>
              </a:rPr>
              <a:t>Duration_ms</a:t>
            </a:r>
            <a:r>
              <a:rPr lang="en-US" dirty="0">
                <a:cs typeface="Calibri" panose="020F0502020204030204"/>
              </a:rPr>
              <a:t>: Length of song in milliseconds</a:t>
            </a:r>
          </a:p>
          <a:p>
            <a:pPr marL="0" indent="0">
              <a:buNone/>
            </a:pPr>
            <a:r>
              <a:rPr lang="en-US" u="sng" dirty="0">
                <a:cs typeface="Calibri" panose="020F0502020204030204"/>
              </a:rPr>
              <a:t>Seconds</a:t>
            </a:r>
            <a:r>
              <a:rPr lang="en-US" dirty="0">
                <a:cs typeface="Calibri" panose="020F0502020204030204"/>
              </a:rPr>
              <a:t>: Duration_ms/1000, Length of song in seconds</a:t>
            </a:r>
          </a:p>
          <a:p>
            <a:pPr marL="0" indent="0">
              <a:buNone/>
            </a:pPr>
            <a:r>
              <a:rPr lang="en-US" u="sng">
                <a:cs typeface="Calibri" panose="020F0502020204030204"/>
              </a:rPr>
              <a:t>Minutes</a:t>
            </a:r>
            <a:r>
              <a:rPr lang="en-US">
                <a:cs typeface="Calibri" panose="020F0502020204030204"/>
              </a:rPr>
              <a:t>: Seconds/60, Length of song in minutes</a:t>
            </a:r>
            <a:endParaRPr lang="en-US" dirty="0">
              <a:cs typeface="Calibri" panose="020F0502020204030204"/>
            </a:endParaRPr>
          </a:p>
          <a:p>
            <a:pPr marL="0" indent="0">
              <a:buNone/>
            </a:pPr>
            <a:r>
              <a:rPr lang="en-US" u="sng" dirty="0">
                <a:cs typeface="Calibri" panose="020F0502020204030204"/>
              </a:rPr>
              <a:t>Key</a:t>
            </a:r>
            <a:r>
              <a:rPr lang="en-US" dirty="0">
                <a:cs typeface="Calibri" panose="020F0502020204030204"/>
              </a:rPr>
              <a:t>: </a:t>
            </a:r>
            <a:r>
              <a:rPr lang="en-US" dirty="0">
                <a:ea typeface="+mn-lt"/>
                <a:cs typeface="+mn-lt"/>
              </a:rPr>
              <a:t>The key the track is in. Integers map to pitches using standard Pitch Class notation. E.g., 0 = C, 1 = C♯/D♭, 2 = D, and so on. If no key was detected, the value is -1.</a:t>
            </a:r>
          </a:p>
          <a:p>
            <a:pPr marL="0" indent="0">
              <a:buNone/>
            </a:pPr>
            <a:r>
              <a:rPr lang="en-US" u="sng" dirty="0">
                <a:cs typeface="Calibri" panose="020F0502020204030204"/>
              </a:rPr>
              <a:t>Loudness</a:t>
            </a:r>
            <a:r>
              <a:rPr lang="en-US" dirty="0">
                <a:cs typeface="Calibri" panose="020F0502020204030204"/>
              </a:rPr>
              <a:t>: </a:t>
            </a:r>
            <a:r>
              <a:rPr lang="en-US" dirty="0">
                <a:ea typeface="+mn-lt"/>
                <a:cs typeface="+mn-lt"/>
              </a:rPr>
              <a:t>the overall loudness of a track in decibels (dB). Loudness values are averaged across the entire track and are useful for comparing relative loudness of tracks. Loudness is the quality of a sound that is the primary psychological correlate of physical strength (amplitude). Values typically range between -60 and 0 db.</a:t>
            </a:r>
          </a:p>
        </p:txBody>
      </p:sp>
    </p:spTree>
    <p:extLst>
      <p:ext uri="{BB962C8B-B14F-4D97-AF65-F5344CB8AC3E}">
        <p14:creationId xmlns:p14="http://schemas.microsoft.com/office/powerpoint/2010/main" val="3631639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A971-1F2B-AC51-2CC4-454B0590F5BA}"/>
              </a:ext>
            </a:extLst>
          </p:cNvPr>
          <p:cNvSpPr>
            <a:spLocks noGrp="1"/>
          </p:cNvSpPr>
          <p:nvPr>
            <p:ph type="title"/>
          </p:nvPr>
        </p:nvSpPr>
        <p:spPr/>
        <p:txBody>
          <a:bodyPr/>
          <a:lstStyle/>
          <a:p>
            <a:r>
              <a:rPr lang="en-US" dirty="0">
                <a:cs typeface="Calibri Light"/>
              </a:rPr>
              <a:t>Variables: Pt.4</a:t>
            </a:r>
            <a:endParaRPr lang="en-US" dirty="0"/>
          </a:p>
        </p:txBody>
      </p:sp>
      <p:sp>
        <p:nvSpPr>
          <p:cNvPr id="3" name="Content Placeholder 2">
            <a:extLst>
              <a:ext uri="{FF2B5EF4-FFF2-40B4-BE49-F238E27FC236}">
                <a16:creationId xmlns:a16="http://schemas.microsoft.com/office/drawing/2014/main" id="{CEC21453-E41A-464D-1971-54E773F0B287}"/>
              </a:ext>
            </a:extLst>
          </p:cNvPr>
          <p:cNvSpPr>
            <a:spLocks noGrp="1"/>
          </p:cNvSpPr>
          <p:nvPr>
            <p:ph idx="1"/>
          </p:nvPr>
        </p:nvSpPr>
        <p:spPr>
          <a:xfrm>
            <a:off x="-1456" y="1825625"/>
            <a:ext cx="12194912" cy="5030828"/>
          </a:xfrm>
          <a:solidFill>
            <a:schemeClr val="accent2">
              <a:lumMod val="20000"/>
              <a:lumOff val="80000"/>
            </a:schemeClr>
          </a:solidFill>
        </p:spPr>
        <p:txBody>
          <a:bodyPr vert="horz" lIns="91440" tIns="45720" rIns="91440" bIns="45720" rtlCol="0" anchor="t">
            <a:normAutofit/>
          </a:bodyPr>
          <a:lstStyle/>
          <a:p>
            <a:pPr marL="0" indent="0">
              <a:buNone/>
            </a:pPr>
            <a:r>
              <a:rPr lang="en-US" u="sng" dirty="0">
                <a:cs typeface="Calibri" panose="020F0502020204030204"/>
              </a:rPr>
              <a:t>Tempo</a:t>
            </a:r>
            <a:r>
              <a:rPr lang="en-US" dirty="0">
                <a:cs typeface="Calibri" panose="020F0502020204030204"/>
              </a:rPr>
              <a:t>: </a:t>
            </a:r>
            <a:r>
              <a:rPr lang="en-US" dirty="0">
                <a:ea typeface="+mn-lt"/>
                <a:cs typeface="+mn-lt"/>
              </a:rPr>
              <a:t>the overall estimated tempo of a track in beats per minute (BPM). In musical terminology, tempo is the speed or pace of a given piece and derives directly from the average beat duration.</a:t>
            </a:r>
          </a:p>
          <a:p>
            <a:pPr marL="0" indent="0">
              <a:buNone/>
            </a:pPr>
            <a:r>
              <a:rPr lang="en-US" u="sng" dirty="0">
                <a:cs typeface="Calibri" panose="020F0502020204030204"/>
              </a:rPr>
              <a:t>Danceability</a:t>
            </a:r>
            <a:r>
              <a:rPr lang="en-US" dirty="0">
                <a:cs typeface="Calibri" panose="020F0502020204030204"/>
              </a:rPr>
              <a:t>: </a:t>
            </a:r>
            <a:r>
              <a:rPr lang="en-US" dirty="0">
                <a:ea typeface="+mn-lt"/>
                <a:cs typeface="+mn-lt"/>
              </a:rPr>
              <a:t>describes how suitable a track is for dancing based on a combination of musical elements including tempo, rhythm stability, beat strength, and overall regularity. A value of 0.0 is least danceable and 1.0 is most danceable.</a:t>
            </a:r>
          </a:p>
          <a:p>
            <a:pPr marL="0" indent="0">
              <a:buNone/>
            </a:pPr>
            <a:r>
              <a:rPr lang="en-US" u="sng" dirty="0">
                <a:cs typeface="Calibri" panose="020F0502020204030204"/>
              </a:rPr>
              <a:t>Energy</a:t>
            </a:r>
            <a:r>
              <a:rPr lang="en-US" dirty="0">
                <a:cs typeface="Calibri" panose="020F0502020204030204"/>
              </a:rPr>
              <a:t>: </a:t>
            </a:r>
            <a:r>
              <a:rPr lang="en-US" dirty="0">
                <a:ea typeface="+mn-lt"/>
                <a:cs typeface="+mn-lt"/>
              </a:rPr>
              <a:t>is a measure from 0.0 to 1.0 and represents a perceptual measure of intensity and activity. Typically, energetic tracks feel fast, loud, and noisy. For example, death metal has high energy, while a Bach prelude scores low on the scale. Perceptual features contributing to this attribute include dynamic range, perceived loudness, timbre, onset rate, and general entropy.</a:t>
            </a:r>
            <a:endParaRPr lang="en-US" dirty="0">
              <a:cs typeface="Calibri" panose="020F0502020204030204"/>
            </a:endParaRPr>
          </a:p>
        </p:txBody>
      </p:sp>
    </p:spTree>
    <p:extLst>
      <p:ext uri="{BB962C8B-B14F-4D97-AF65-F5344CB8AC3E}">
        <p14:creationId xmlns:p14="http://schemas.microsoft.com/office/powerpoint/2010/main" val="2022260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29CC-F9F8-5FE7-B0DC-A18A129D1DD2}"/>
              </a:ext>
            </a:extLst>
          </p:cNvPr>
          <p:cNvSpPr>
            <a:spLocks noGrp="1"/>
          </p:cNvSpPr>
          <p:nvPr>
            <p:ph type="title"/>
          </p:nvPr>
        </p:nvSpPr>
        <p:spPr/>
        <p:txBody>
          <a:bodyPr/>
          <a:lstStyle/>
          <a:p>
            <a:r>
              <a:rPr lang="en-US" dirty="0">
                <a:cs typeface="Calibri Light"/>
              </a:rPr>
              <a:t>Variables: Pt.5</a:t>
            </a:r>
            <a:endParaRPr lang="en-US" dirty="0"/>
          </a:p>
        </p:txBody>
      </p:sp>
      <p:sp>
        <p:nvSpPr>
          <p:cNvPr id="3" name="Content Placeholder 2">
            <a:extLst>
              <a:ext uri="{FF2B5EF4-FFF2-40B4-BE49-F238E27FC236}">
                <a16:creationId xmlns:a16="http://schemas.microsoft.com/office/drawing/2014/main" id="{1ADCE8DB-5A37-1512-3322-975DB65733AA}"/>
              </a:ext>
            </a:extLst>
          </p:cNvPr>
          <p:cNvSpPr>
            <a:spLocks noGrp="1"/>
          </p:cNvSpPr>
          <p:nvPr>
            <p:ph idx="1"/>
          </p:nvPr>
        </p:nvSpPr>
        <p:spPr>
          <a:xfrm>
            <a:off x="8252" y="1825625"/>
            <a:ext cx="12185204" cy="5035681"/>
          </a:xfrm>
          <a:solidFill>
            <a:schemeClr val="accent2">
              <a:lumMod val="20000"/>
              <a:lumOff val="80000"/>
            </a:schemeClr>
          </a:solidFill>
        </p:spPr>
        <p:txBody>
          <a:bodyPr vert="horz" lIns="91440" tIns="45720" rIns="91440" bIns="45720" rtlCol="0" anchor="t">
            <a:normAutofit/>
          </a:bodyPr>
          <a:lstStyle/>
          <a:p>
            <a:pPr marL="0" indent="0">
              <a:buNone/>
            </a:pPr>
            <a:r>
              <a:rPr lang="en-US" u="sng" err="1">
                <a:cs typeface="Calibri" panose="020F0502020204030204"/>
              </a:rPr>
              <a:t>Speechiness</a:t>
            </a:r>
            <a:r>
              <a:rPr lang="en-US" dirty="0">
                <a:cs typeface="Calibri" panose="020F0502020204030204"/>
              </a:rPr>
              <a:t>: </a:t>
            </a:r>
            <a:r>
              <a:rPr lang="en-US" dirty="0">
                <a:ea typeface="+mn-lt"/>
                <a:cs typeface="+mn-lt"/>
              </a:rPr>
              <a:t>detects the presence of spoken words in a track. The more exclusively speech-like the recording (e.g. talk show, audio book, poetry), the closer to 1.0 the attribute value. Values above 0.66 describe tracks that are probably made entirely of spoken words. Values between 0.33 and 0.66 describe tracks that may contain both music and speech, either in sections or layered, including such cases as rap music. Values below 0.33 most likely represent music and other non-speech-like tracks.</a:t>
            </a:r>
          </a:p>
          <a:p>
            <a:pPr marL="0" indent="0">
              <a:buNone/>
            </a:pPr>
            <a:r>
              <a:rPr lang="en-US" u="sng" err="1">
                <a:cs typeface="Calibri" panose="020F0502020204030204"/>
              </a:rPr>
              <a:t>Acousticness</a:t>
            </a:r>
            <a:r>
              <a:rPr lang="en-US" dirty="0">
                <a:cs typeface="Calibri" panose="020F0502020204030204"/>
              </a:rPr>
              <a:t>: </a:t>
            </a:r>
            <a:r>
              <a:rPr lang="en-US" dirty="0">
                <a:ea typeface="+mn-lt"/>
                <a:cs typeface="+mn-lt"/>
              </a:rPr>
              <a:t>a confidence measure from 0.0 to 1.0 of whether the track is acoustic. 1.0 represents high confidence the track is acoustic.</a:t>
            </a:r>
            <a:endParaRPr lang="en-US" dirty="0">
              <a:cs typeface="Calibri" panose="020F0502020204030204"/>
            </a:endParaRPr>
          </a:p>
        </p:txBody>
      </p:sp>
    </p:spTree>
    <p:extLst>
      <p:ext uri="{BB962C8B-B14F-4D97-AF65-F5344CB8AC3E}">
        <p14:creationId xmlns:p14="http://schemas.microsoft.com/office/powerpoint/2010/main" val="2254662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9392-BA0F-FE06-5F32-7FE22F691E05}"/>
              </a:ext>
            </a:extLst>
          </p:cNvPr>
          <p:cNvSpPr>
            <a:spLocks noGrp="1"/>
          </p:cNvSpPr>
          <p:nvPr>
            <p:ph type="title"/>
          </p:nvPr>
        </p:nvSpPr>
        <p:spPr/>
        <p:txBody>
          <a:bodyPr/>
          <a:lstStyle/>
          <a:p>
            <a:r>
              <a:rPr lang="en-US" dirty="0">
                <a:cs typeface="Calibri Light"/>
              </a:rPr>
              <a:t>Variables: Pt.6</a:t>
            </a:r>
            <a:endParaRPr lang="en-US" dirty="0"/>
          </a:p>
        </p:txBody>
      </p:sp>
      <p:sp>
        <p:nvSpPr>
          <p:cNvPr id="3" name="Content Placeholder 2">
            <a:extLst>
              <a:ext uri="{FF2B5EF4-FFF2-40B4-BE49-F238E27FC236}">
                <a16:creationId xmlns:a16="http://schemas.microsoft.com/office/drawing/2014/main" id="{362C22EC-1DCB-E3E6-7E12-0F9DBCCBE7DC}"/>
              </a:ext>
            </a:extLst>
          </p:cNvPr>
          <p:cNvSpPr>
            <a:spLocks noGrp="1"/>
          </p:cNvSpPr>
          <p:nvPr>
            <p:ph idx="1"/>
          </p:nvPr>
        </p:nvSpPr>
        <p:spPr>
          <a:xfrm>
            <a:off x="-35430" y="1825625"/>
            <a:ext cx="12224032" cy="5025974"/>
          </a:xfrm>
          <a:solidFill>
            <a:schemeClr val="accent2">
              <a:lumMod val="20000"/>
              <a:lumOff val="80000"/>
            </a:schemeClr>
          </a:solidFill>
        </p:spPr>
        <p:txBody>
          <a:bodyPr vert="horz" lIns="91440" tIns="45720" rIns="91440" bIns="45720" rtlCol="0" anchor="t">
            <a:normAutofit lnSpcReduction="10000"/>
          </a:bodyPr>
          <a:lstStyle/>
          <a:p>
            <a:pPr marL="0" indent="0">
              <a:buNone/>
            </a:pPr>
            <a:r>
              <a:rPr lang="en-US" u="sng" err="1">
                <a:cs typeface="Calibri"/>
              </a:rPr>
              <a:t>Instrumentalness</a:t>
            </a:r>
            <a:r>
              <a:rPr lang="en-US" dirty="0">
                <a:cs typeface="Calibri"/>
              </a:rPr>
              <a:t>: </a:t>
            </a:r>
            <a:r>
              <a:rPr lang="en-US" dirty="0">
                <a:ea typeface="+mn-lt"/>
                <a:cs typeface="+mn-lt"/>
              </a:rPr>
              <a:t>predicts whether a track contains no vocals. "Ooh" and "aah" sounds are treated as instrumental in this context. Rap or spoken word tracks are clearly "vocal". The closer the </a:t>
            </a:r>
            <a:r>
              <a:rPr lang="en-US" err="1">
                <a:ea typeface="+mn-lt"/>
                <a:cs typeface="+mn-lt"/>
              </a:rPr>
              <a:t>instrumentalness</a:t>
            </a:r>
            <a:r>
              <a:rPr lang="en-US" dirty="0">
                <a:ea typeface="+mn-lt"/>
                <a:cs typeface="+mn-lt"/>
              </a:rPr>
              <a:t> value is to 1.0, the greater likelihood the track contains no vocal content. Values above 0.5 are intended to represent instrumental tracks, but confidence is higher as the value approaches 1.0.</a:t>
            </a:r>
          </a:p>
          <a:p>
            <a:pPr marL="0" indent="0">
              <a:buNone/>
            </a:pPr>
            <a:r>
              <a:rPr lang="en-US" u="sng" dirty="0">
                <a:cs typeface="Calibri"/>
              </a:rPr>
              <a:t>Liveness</a:t>
            </a:r>
            <a:r>
              <a:rPr lang="en-US" dirty="0">
                <a:cs typeface="Calibri"/>
              </a:rPr>
              <a:t>: </a:t>
            </a:r>
            <a:r>
              <a:rPr lang="en-US" dirty="0">
                <a:ea typeface="+mn-lt"/>
                <a:cs typeface="+mn-lt"/>
              </a:rPr>
              <a:t>detects the presence of an audience in the recording. Higher liveness values represent an increased probability that the track was performed live. A value above 0.8 provides strong likelihood that the track is live.</a:t>
            </a:r>
          </a:p>
          <a:p>
            <a:pPr marL="0" indent="0">
              <a:buNone/>
            </a:pPr>
            <a:r>
              <a:rPr lang="en-US" u="sng" dirty="0">
                <a:cs typeface="Calibri"/>
              </a:rPr>
              <a:t>Valence</a:t>
            </a:r>
            <a:r>
              <a:rPr lang="en-US" dirty="0">
                <a:cs typeface="Calibri"/>
              </a:rPr>
              <a:t>: </a:t>
            </a:r>
            <a:r>
              <a:rPr lang="en-US" dirty="0">
                <a:ea typeface="+mn-lt"/>
                <a:cs typeface="+mn-lt"/>
              </a:rPr>
              <a:t>a measure from 0.0 to 1.0 describing the musical positiveness conveyed by a track. Tracks with high valence sound more positive (e.g. happy, cheerful, euphoric), while tracks with low valence sound more negative (</a:t>
            </a:r>
            <a:r>
              <a:rPr lang="en-US">
                <a:ea typeface="+mn-lt"/>
                <a:cs typeface="+mn-lt"/>
              </a:rPr>
              <a:t>e.g.,</a:t>
            </a:r>
            <a:r>
              <a:rPr lang="en-US" dirty="0">
                <a:ea typeface="+mn-lt"/>
                <a:cs typeface="+mn-lt"/>
              </a:rPr>
              <a:t> sad, depressed, angry).</a:t>
            </a:r>
            <a:endParaRPr lang="en-US" dirty="0">
              <a:cs typeface="Calibri"/>
            </a:endParaRPr>
          </a:p>
        </p:txBody>
      </p:sp>
    </p:spTree>
    <p:extLst>
      <p:ext uri="{BB962C8B-B14F-4D97-AF65-F5344CB8AC3E}">
        <p14:creationId xmlns:p14="http://schemas.microsoft.com/office/powerpoint/2010/main" val="3167328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E6153-1988-1C8E-9BDD-DE09DAB1EC63}"/>
              </a:ext>
            </a:extLst>
          </p:cNvPr>
          <p:cNvSpPr>
            <a:spLocks noGrp="1"/>
          </p:cNvSpPr>
          <p:nvPr>
            <p:ph type="title"/>
          </p:nvPr>
        </p:nvSpPr>
        <p:spPr>
          <a:solidFill>
            <a:schemeClr val="accent1">
              <a:lumMod val="40000"/>
              <a:lumOff val="60000"/>
            </a:schemeClr>
          </a:solidFill>
        </p:spPr>
        <p:txBody>
          <a:bodyPr/>
          <a:lstStyle/>
          <a:p>
            <a:r>
              <a:rPr lang="en-US">
                <a:ea typeface="Calibri Light"/>
                <a:cs typeface="Calibri Light"/>
              </a:rPr>
              <a:t>Means Procedure</a:t>
            </a:r>
          </a:p>
        </p:txBody>
      </p:sp>
      <p:pic>
        <p:nvPicPr>
          <p:cNvPr id="4" name="Picture 4" descr="Table&#10;&#10;Description automatically generated">
            <a:extLst>
              <a:ext uri="{FF2B5EF4-FFF2-40B4-BE49-F238E27FC236}">
                <a16:creationId xmlns:a16="http://schemas.microsoft.com/office/drawing/2014/main" id="{FC16C3FA-F142-A197-0DB3-A7D1E1A65476}"/>
              </a:ext>
            </a:extLst>
          </p:cNvPr>
          <p:cNvPicPr>
            <a:picLocks noGrp="1" noChangeAspect="1"/>
          </p:cNvPicPr>
          <p:nvPr>
            <p:ph idx="1"/>
          </p:nvPr>
        </p:nvPicPr>
        <p:blipFill>
          <a:blip r:embed="rId2"/>
          <a:stretch>
            <a:fillRect/>
          </a:stretch>
        </p:blipFill>
        <p:spPr>
          <a:xfrm>
            <a:off x="4722435" y="2556373"/>
            <a:ext cx="7459087" cy="4299801"/>
          </a:xfrm>
        </p:spPr>
      </p:pic>
      <p:sp>
        <p:nvSpPr>
          <p:cNvPr id="6" name="TextBox 5">
            <a:extLst>
              <a:ext uri="{FF2B5EF4-FFF2-40B4-BE49-F238E27FC236}">
                <a16:creationId xmlns:a16="http://schemas.microsoft.com/office/drawing/2014/main" id="{448268E1-8937-4D03-1630-6A76F43240AE}"/>
              </a:ext>
            </a:extLst>
          </p:cNvPr>
          <p:cNvSpPr txBox="1"/>
          <p:nvPr/>
        </p:nvSpPr>
        <p:spPr>
          <a:xfrm>
            <a:off x="147516" y="2529632"/>
            <a:ext cx="450979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ea typeface="Calibri"/>
                <a:cs typeface="Calibri"/>
              </a:rPr>
              <a:t>What's important?</a:t>
            </a:r>
          </a:p>
          <a:p>
            <a:endParaRPr lang="en-US" dirty="0">
              <a:ea typeface="Calibri"/>
              <a:cs typeface="Calibri"/>
            </a:endParaRPr>
          </a:p>
          <a:p>
            <a:pPr marL="285750" indent="-285750">
              <a:buFont typeface="Calibri"/>
              <a:buChar char="-"/>
            </a:pPr>
            <a:r>
              <a:rPr lang="en-US" dirty="0">
                <a:ea typeface="Calibri"/>
                <a:cs typeface="Calibri"/>
              </a:rPr>
              <a:t>We are working with popular songs as we can see by number of streams and views</a:t>
            </a:r>
          </a:p>
          <a:p>
            <a:pPr marL="285750" indent="-285750">
              <a:buFont typeface="Calibri"/>
              <a:buChar char="-"/>
            </a:pPr>
            <a:endParaRPr lang="en-US" dirty="0">
              <a:ea typeface="Calibri"/>
              <a:cs typeface="Calibri"/>
            </a:endParaRPr>
          </a:p>
          <a:p>
            <a:pPr marL="285750" indent="-285750">
              <a:buFont typeface="Calibri"/>
              <a:buChar char="-"/>
            </a:pPr>
            <a:r>
              <a:rPr lang="en-US" dirty="0">
                <a:ea typeface="Calibri"/>
                <a:cs typeface="Calibri"/>
              </a:rPr>
              <a:t>The average song is in the middle in terms of </a:t>
            </a:r>
            <a:r>
              <a:rPr lang="en-US" dirty="0" err="1">
                <a:ea typeface="Calibri"/>
                <a:cs typeface="Calibri"/>
              </a:rPr>
              <a:t>dancability</a:t>
            </a:r>
            <a:r>
              <a:rPr lang="en-US" dirty="0">
                <a:ea typeface="Calibri"/>
                <a:cs typeface="Calibri"/>
              </a:rPr>
              <a:t>, valence, and energy</a:t>
            </a:r>
          </a:p>
          <a:p>
            <a:pPr marL="285750" indent="-285750">
              <a:buFont typeface="Calibri"/>
              <a:buChar char="-"/>
            </a:pPr>
            <a:endParaRPr lang="en-US" dirty="0">
              <a:ea typeface="Calibri"/>
              <a:cs typeface="Calibri"/>
            </a:endParaRPr>
          </a:p>
          <a:p>
            <a:pPr marL="285750" indent="-285750">
              <a:buFont typeface="Calibri"/>
              <a:buChar char="-"/>
            </a:pPr>
            <a:r>
              <a:rPr lang="en-US" dirty="0">
                <a:ea typeface="Calibri"/>
                <a:cs typeface="Calibri"/>
              </a:rPr>
              <a:t>The average song is low in terms of </a:t>
            </a:r>
            <a:r>
              <a:rPr lang="en-US" dirty="0" err="1">
                <a:ea typeface="Calibri"/>
                <a:cs typeface="Calibri"/>
              </a:rPr>
              <a:t>acousticness</a:t>
            </a:r>
            <a:r>
              <a:rPr lang="en-US" dirty="0">
                <a:ea typeface="Calibri"/>
                <a:cs typeface="Calibri"/>
              </a:rPr>
              <a:t>, </a:t>
            </a:r>
            <a:r>
              <a:rPr lang="en-US" dirty="0" err="1">
                <a:ea typeface="Calibri"/>
                <a:cs typeface="Calibri"/>
              </a:rPr>
              <a:t>instrumentalness</a:t>
            </a:r>
            <a:r>
              <a:rPr lang="en-US" dirty="0">
                <a:ea typeface="Calibri"/>
                <a:cs typeface="Calibri"/>
              </a:rPr>
              <a:t>, liveness, and </a:t>
            </a:r>
            <a:r>
              <a:rPr lang="en-US" dirty="0" err="1">
                <a:ea typeface="Calibri"/>
                <a:cs typeface="Calibri"/>
              </a:rPr>
              <a:t>speechiness</a:t>
            </a:r>
          </a:p>
          <a:p>
            <a:pPr marL="285750" indent="-285750">
              <a:buFont typeface="Calibri"/>
              <a:buChar char="-"/>
            </a:pPr>
            <a:endParaRPr lang="en-US" dirty="0">
              <a:ea typeface="Calibri"/>
              <a:cs typeface="Calibri"/>
            </a:endParaRPr>
          </a:p>
          <a:p>
            <a:pPr marL="285750" indent="-285750">
              <a:buFont typeface="Calibri"/>
              <a:buChar char="-"/>
            </a:pPr>
            <a:r>
              <a:rPr lang="en-US">
                <a:ea typeface="Calibri"/>
                <a:cs typeface="Calibri"/>
              </a:rPr>
              <a:t>The average song is 3 min 45 sec </a:t>
            </a:r>
            <a:endParaRPr lang="en-US" dirty="0">
              <a:ea typeface="Calibri"/>
              <a:cs typeface="Calibri"/>
            </a:endParaRPr>
          </a:p>
          <a:p>
            <a:pPr marL="285750" indent="-285750">
              <a:buFont typeface="Calibri"/>
              <a:buChar char="-"/>
            </a:pPr>
            <a:endParaRPr lang="en-US" dirty="0">
              <a:ea typeface="Calibri"/>
              <a:cs typeface="Calibri"/>
            </a:endParaRPr>
          </a:p>
          <a:p>
            <a:pPr marL="285750" indent="-285750">
              <a:buFont typeface="Calibri"/>
              <a:buChar char="-"/>
            </a:pPr>
            <a:r>
              <a:rPr lang="en-US">
                <a:ea typeface="Calibri"/>
                <a:cs typeface="Calibri"/>
              </a:rPr>
              <a:t>Average BPM of 121.45</a:t>
            </a:r>
            <a:endParaRPr lang="en-US" dirty="0">
              <a:ea typeface="Calibri"/>
              <a:cs typeface="Calibri"/>
            </a:endParaRPr>
          </a:p>
        </p:txBody>
      </p:sp>
    </p:spTree>
    <p:extLst>
      <p:ext uri="{BB962C8B-B14F-4D97-AF65-F5344CB8AC3E}">
        <p14:creationId xmlns:p14="http://schemas.microsoft.com/office/powerpoint/2010/main" val="1604401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6B4AE-D016-4EFB-B78F-B0F0C8962269}"/>
              </a:ext>
            </a:extLst>
          </p:cNvPr>
          <p:cNvSpPr>
            <a:spLocks noGrp="1"/>
          </p:cNvSpPr>
          <p:nvPr>
            <p:ph type="title"/>
          </p:nvPr>
        </p:nvSpPr>
        <p:spPr>
          <a:xfrm>
            <a:off x="838200" y="365125"/>
            <a:ext cx="10515600" cy="1014939"/>
          </a:xfrm>
          <a:solidFill>
            <a:schemeClr val="accent1">
              <a:lumMod val="40000"/>
              <a:lumOff val="60000"/>
            </a:schemeClr>
          </a:solidFill>
        </p:spPr>
        <p:txBody>
          <a:bodyPr/>
          <a:lstStyle/>
          <a:p>
            <a:r>
              <a:rPr lang="en-US">
                <a:ea typeface="Calibri Light"/>
                <a:cs typeface="Calibri Light"/>
              </a:rPr>
              <a:t>Frequency Procedure</a:t>
            </a:r>
            <a:endParaRPr lang="en-US"/>
          </a:p>
        </p:txBody>
      </p:sp>
      <p:pic>
        <p:nvPicPr>
          <p:cNvPr id="4" name="Picture 4" descr="Table&#10;&#10;Description automatically generated">
            <a:extLst>
              <a:ext uri="{FF2B5EF4-FFF2-40B4-BE49-F238E27FC236}">
                <a16:creationId xmlns:a16="http://schemas.microsoft.com/office/drawing/2014/main" id="{418DDD10-F1AC-8E61-47A9-CB6A040373C8}"/>
              </a:ext>
            </a:extLst>
          </p:cNvPr>
          <p:cNvPicPr>
            <a:picLocks noGrp="1" noChangeAspect="1"/>
          </p:cNvPicPr>
          <p:nvPr>
            <p:ph idx="1"/>
          </p:nvPr>
        </p:nvPicPr>
        <p:blipFill>
          <a:blip r:embed="rId2"/>
          <a:stretch>
            <a:fillRect/>
          </a:stretch>
        </p:blipFill>
        <p:spPr>
          <a:xfrm>
            <a:off x="30784" y="1442034"/>
            <a:ext cx="4157939" cy="5413991"/>
          </a:xfrm>
        </p:spPr>
      </p:pic>
      <p:sp>
        <p:nvSpPr>
          <p:cNvPr id="5" name="TextBox 4">
            <a:extLst>
              <a:ext uri="{FF2B5EF4-FFF2-40B4-BE49-F238E27FC236}">
                <a16:creationId xmlns:a16="http://schemas.microsoft.com/office/drawing/2014/main" id="{56832215-1C1C-7E99-3ABB-ABEAFB72B09B}"/>
              </a:ext>
            </a:extLst>
          </p:cNvPr>
          <p:cNvSpPr txBox="1"/>
          <p:nvPr/>
        </p:nvSpPr>
        <p:spPr>
          <a:xfrm>
            <a:off x="1479420" y="369803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A picture containing table&#10;&#10;Description automatically generated">
            <a:extLst>
              <a:ext uri="{FF2B5EF4-FFF2-40B4-BE49-F238E27FC236}">
                <a16:creationId xmlns:a16="http://schemas.microsoft.com/office/drawing/2014/main" id="{34EE1229-66FE-17C9-6D2A-B81CDE1263C8}"/>
              </a:ext>
            </a:extLst>
          </p:cNvPr>
          <p:cNvPicPr>
            <a:picLocks noChangeAspect="1"/>
          </p:cNvPicPr>
          <p:nvPr/>
        </p:nvPicPr>
        <p:blipFill>
          <a:blip r:embed="rId3"/>
          <a:stretch>
            <a:fillRect/>
          </a:stretch>
        </p:blipFill>
        <p:spPr>
          <a:xfrm>
            <a:off x="9519201" y="2422784"/>
            <a:ext cx="2670822" cy="4433207"/>
          </a:xfrm>
          <a:prstGeom prst="rect">
            <a:avLst/>
          </a:prstGeom>
        </p:spPr>
      </p:pic>
      <p:sp>
        <p:nvSpPr>
          <p:cNvPr id="7" name="TextBox 6">
            <a:extLst>
              <a:ext uri="{FF2B5EF4-FFF2-40B4-BE49-F238E27FC236}">
                <a16:creationId xmlns:a16="http://schemas.microsoft.com/office/drawing/2014/main" id="{339076A5-FB93-1295-3724-084801334F5C}"/>
              </a:ext>
            </a:extLst>
          </p:cNvPr>
          <p:cNvSpPr txBox="1"/>
          <p:nvPr/>
        </p:nvSpPr>
        <p:spPr>
          <a:xfrm>
            <a:off x="4551264" y="1700245"/>
            <a:ext cx="293395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We are working with so many different artists from </a:t>
            </a:r>
            <a:r>
              <a:rPr lang="en-US">
                <a:ea typeface="Calibri"/>
                <a:cs typeface="Calibri"/>
              </a:rPr>
              <a:t>so many different genres</a:t>
            </a:r>
            <a:endParaRPr lang="en-US"/>
          </a:p>
        </p:txBody>
      </p:sp>
      <p:sp>
        <p:nvSpPr>
          <p:cNvPr id="8" name="TextBox 7">
            <a:extLst>
              <a:ext uri="{FF2B5EF4-FFF2-40B4-BE49-F238E27FC236}">
                <a16:creationId xmlns:a16="http://schemas.microsoft.com/office/drawing/2014/main" id="{DAAB9A38-4A0C-7BF9-9EC0-4DCC4F359DDF}"/>
              </a:ext>
            </a:extLst>
          </p:cNvPr>
          <p:cNvSpPr txBox="1"/>
          <p:nvPr/>
        </p:nvSpPr>
        <p:spPr>
          <a:xfrm>
            <a:off x="7599265" y="4903754"/>
            <a:ext cx="210457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This stuff is just interesting :)</a:t>
            </a:r>
          </a:p>
          <a:p>
            <a:endParaRPr lang="en-US" dirty="0">
              <a:ea typeface="Calibri"/>
              <a:cs typeface="Calibri"/>
            </a:endParaRPr>
          </a:p>
          <a:p>
            <a:r>
              <a:rPr lang="en-US">
                <a:ea typeface="Calibri"/>
                <a:cs typeface="Calibri"/>
              </a:rPr>
              <a:t>More songs are in keys C and D than other keys</a:t>
            </a:r>
            <a:endParaRPr lang="en-US" dirty="0">
              <a:ea typeface="Calibri"/>
              <a:cs typeface="Calibri"/>
            </a:endParaRPr>
          </a:p>
        </p:txBody>
      </p:sp>
    </p:spTree>
    <p:extLst>
      <p:ext uri="{BB962C8B-B14F-4D97-AF65-F5344CB8AC3E}">
        <p14:creationId xmlns:p14="http://schemas.microsoft.com/office/powerpoint/2010/main" val="1814053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158D1-9727-1EFA-D433-94872CE44792}"/>
              </a:ext>
            </a:extLst>
          </p:cNvPr>
          <p:cNvSpPr>
            <a:spLocks noGrp="1"/>
          </p:cNvSpPr>
          <p:nvPr>
            <p:ph type="title"/>
          </p:nvPr>
        </p:nvSpPr>
        <p:spPr>
          <a:xfrm>
            <a:off x="624646" y="365125"/>
            <a:ext cx="10729154" cy="971257"/>
          </a:xfrm>
          <a:solidFill>
            <a:schemeClr val="accent1">
              <a:lumMod val="40000"/>
              <a:lumOff val="60000"/>
            </a:schemeClr>
          </a:solidFill>
        </p:spPr>
        <p:txBody>
          <a:bodyPr/>
          <a:lstStyle/>
          <a:p>
            <a:r>
              <a:rPr lang="en-US" dirty="0">
                <a:ea typeface="Calibri Light"/>
                <a:cs typeface="Calibri Light"/>
              </a:rPr>
              <a:t>Multiple Linear Regression Test Original Model</a:t>
            </a:r>
            <a:endParaRPr lang="en-US" dirty="0"/>
          </a:p>
        </p:txBody>
      </p:sp>
      <p:pic>
        <p:nvPicPr>
          <p:cNvPr id="4" name="Picture 4" descr="Table&#10;&#10;Description automatically generated">
            <a:extLst>
              <a:ext uri="{FF2B5EF4-FFF2-40B4-BE49-F238E27FC236}">
                <a16:creationId xmlns:a16="http://schemas.microsoft.com/office/drawing/2014/main" id="{8444CBC1-3015-0626-E6BE-D7EB495B1160}"/>
              </a:ext>
            </a:extLst>
          </p:cNvPr>
          <p:cNvPicPr>
            <a:picLocks noGrp="1" noChangeAspect="1"/>
          </p:cNvPicPr>
          <p:nvPr>
            <p:ph idx="1"/>
          </p:nvPr>
        </p:nvPicPr>
        <p:blipFill>
          <a:blip r:embed="rId2"/>
          <a:stretch>
            <a:fillRect/>
          </a:stretch>
        </p:blipFill>
        <p:spPr>
          <a:xfrm>
            <a:off x="9153" y="1369462"/>
            <a:ext cx="6020672" cy="5486563"/>
          </a:xfrm>
        </p:spPr>
      </p:pic>
      <p:sp>
        <p:nvSpPr>
          <p:cNvPr id="5" name="TextBox 4">
            <a:extLst>
              <a:ext uri="{FF2B5EF4-FFF2-40B4-BE49-F238E27FC236}">
                <a16:creationId xmlns:a16="http://schemas.microsoft.com/office/drawing/2014/main" id="{368F8FC2-2E87-7E7F-8B6A-22AC0B659226}"/>
              </a:ext>
            </a:extLst>
          </p:cNvPr>
          <p:cNvSpPr txBox="1"/>
          <p:nvPr/>
        </p:nvSpPr>
        <p:spPr>
          <a:xfrm>
            <a:off x="1023257" y="3832809"/>
            <a:ext cx="3463730" cy="4211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7247D8F3-D278-95CD-529E-2CD967EDF64F}"/>
              </a:ext>
            </a:extLst>
          </p:cNvPr>
          <p:cNvSpPr txBox="1"/>
          <p:nvPr/>
        </p:nvSpPr>
        <p:spPr>
          <a:xfrm>
            <a:off x="6510693" y="1493095"/>
            <a:ext cx="5619102"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What do we see at first glance?</a:t>
            </a:r>
          </a:p>
          <a:p>
            <a:endParaRPr lang="en-US" dirty="0">
              <a:ea typeface="Calibri"/>
              <a:cs typeface="Calibri"/>
            </a:endParaRPr>
          </a:p>
          <a:p>
            <a:pPr marL="285750" indent="-285750">
              <a:buFont typeface="Calibri"/>
              <a:buChar char="-"/>
            </a:pPr>
            <a:r>
              <a:rPr lang="en-US" dirty="0">
                <a:ea typeface="Calibri"/>
                <a:cs typeface="Calibri"/>
              </a:rPr>
              <a:t>Our R2 value is pretty good, 74.88% of our data can be explained by the model</a:t>
            </a:r>
          </a:p>
          <a:p>
            <a:pPr marL="285750" indent="-285750">
              <a:buFont typeface="Calibri"/>
              <a:buChar char="-"/>
            </a:pPr>
            <a:endParaRPr lang="en-US" dirty="0">
              <a:ea typeface="Calibri"/>
              <a:cs typeface="Calibri"/>
            </a:endParaRPr>
          </a:p>
          <a:p>
            <a:pPr marL="285750" indent="-285750">
              <a:buFont typeface="Calibri"/>
              <a:buChar char="-"/>
            </a:pPr>
            <a:r>
              <a:rPr lang="en-US" dirty="0">
                <a:ea typeface="Calibri"/>
                <a:cs typeface="Calibri"/>
              </a:rPr>
              <a:t>We see some regressors that are not significant such as: </a:t>
            </a:r>
            <a:r>
              <a:rPr lang="en-US" dirty="0" err="1">
                <a:ea typeface="Calibri"/>
                <a:cs typeface="Calibri"/>
              </a:rPr>
              <a:t>Instrumentalness</a:t>
            </a:r>
            <a:r>
              <a:rPr lang="en-US" dirty="0">
                <a:ea typeface="Calibri"/>
                <a:cs typeface="Calibri"/>
              </a:rPr>
              <a:t>, key, loudness, tempo, and seconds at a 0.05 significance level</a:t>
            </a:r>
          </a:p>
          <a:p>
            <a:pPr marL="285750" indent="-285750">
              <a:buFont typeface="Calibri"/>
              <a:buChar char="-"/>
            </a:pPr>
            <a:endParaRPr lang="en-US" dirty="0">
              <a:ea typeface="Calibri"/>
              <a:cs typeface="Calibri"/>
            </a:endParaRPr>
          </a:p>
          <a:p>
            <a:pPr marL="285750" indent="-285750">
              <a:buFont typeface="Calibri"/>
              <a:buChar char="-"/>
            </a:pPr>
            <a:r>
              <a:rPr lang="en-US" dirty="0">
                <a:ea typeface="Calibri"/>
                <a:cs typeface="Calibri"/>
              </a:rPr>
              <a:t>Our VIF values are acceptable as they are all less than 10</a:t>
            </a:r>
          </a:p>
          <a:p>
            <a:pPr marL="285750" indent="-285750">
              <a:buFont typeface="Calibri"/>
              <a:buChar char="-"/>
            </a:pPr>
            <a:endParaRPr lang="en-US" dirty="0">
              <a:ea typeface="Calibri"/>
              <a:cs typeface="Calibri"/>
            </a:endParaRPr>
          </a:p>
          <a:p>
            <a:r>
              <a:rPr lang="en-US" dirty="0">
                <a:ea typeface="Calibri"/>
                <a:cs typeface="Calibri"/>
              </a:rPr>
              <a:t>H</a:t>
            </a:r>
            <a:r>
              <a:rPr lang="en-US" baseline="-25000" dirty="0">
                <a:ea typeface="Calibri"/>
                <a:cs typeface="Calibri"/>
              </a:rPr>
              <a:t>0</a:t>
            </a:r>
            <a:r>
              <a:rPr lang="en-US" dirty="0">
                <a:ea typeface="Calibri"/>
                <a:cs typeface="Calibri"/>
              </a:rPr>
              <a:t>: β</a:t>
            </a:r>
            <a:r>
              <a:rPr lang="en-US" baseline="-25000" dirty="0">
                <a:ea typeface="Calibri"/>
                <a:cs typeface="Calibri"/>
              </a:rPr>
              <a:t>0</a:t>
            </a:r>
            <a:r>
              <a:rPr lang="en-US" dirty="0">
                <a:ea typeface="Calibri"/>
                <a:cs typeface="Calibri"/>
              </a:rPr>
              <a:t> = β</a:t>
            </a:r>
            <a:r>
              <a:rPr lang="en-US" baseline="-25000" dirty="0">
                <a:ea typeface="Calibri"/>
                <a:cs typeface="Calibri"/>
              </a:rPr>
              <a:t>1</a:t>
            </a:r>
            <a:r>
              <a:rPr lang="en-US" dirty="0">
                <a:ea typeface="Calibri"/>
                <a:cs typeface="Calibri"/>
              </a:rPr>
              <a:t> = … = β</a:t>
            </a:r>
            <a:r>
              <a:rPr lang="en-US" baseline="-25000" dirty="0">
                <a:ea typeface="Calibri"/>
                <a:cs typeface="Calibri"/>
              </a:rPr>
              <a:t>13</a:t>
            </a:r>
            <a:r>
              <a:rPr lang="en-US" dirty="0">
                <a:ea typeface="Calibri"/>
                <a:cs typeface="Calibri"/>
              </a:rPr>
              <a:t> = 0            H</a:t>
            </a:r>
            <a:r>
              <a:rPr lang="en-US" baseline="-25000" dirty="0">
                <a:ea typeface="Calibri"/>
                <a:cs typeface="Calibri"/>
              </a:rPr>
              <a:t>1</a:t>
            </a:r>
            <a:r>
              <a:rPr lang="en-US" dirty="0">
                <a:ea typeface="Calibri"/>
                <a:cs typeface="Calibri"/>
              </a:rPr>
              <a:t>: One β</a:t>
            </a:r>
            <a:r>
              <a:rPr lang="en-US" baseline="-25000" dirty="0">
                <a:ea typeface="Calibri"/>
                <a:cs typeface="Calibri"/>
              </a:rPr>
              <a:t>k</a:t>
            </a:r>
            <a:r>
              <a:rPr lang="en-US" dirty="0">
                <a:ea typeface="Calibri"/>
                <a:cs typeface="Calibri"/>
              </a:rPr>
              <a:t> ≠ 0</a:t>
            </a:r>
          </a:p>
          <a:p>
            <a:endParaRPr lang="en-US" dirty="0">
              <a:ea typeface="Calibri"/>
              <a:cs typeface="Calibri"/>
            </a:endParaRPr>
          </a:p>
          <a:p>
            <a:r>
              <a:rPr lang="en-US" dirty="0">
                <a:ea typeface="Calibri"/>
                <a:cs typeface="Calibri"/>
              </a:rPr>
              <a:t>We would conclude our model is significant at a 0.05 significance level as,</a:t>
            </a:r>
          </a:p>
          <a:p>
            <a:endParaRPr lang="en-US" dirty="0">
              <a:ea typeface="Calibri"/>
              <a:cs typeface="Calibri"/>
            </a:endParaRPr>
          </a:p>
          <a:p>
            <a:r>
              <a:rPr lang="en-US" dirty="0">
                <a:ea typeface="Calibri"/>
                <a:cs typeface="Calibri"/>
              </a:rPr>
              <a:t>F0 = 1028.54 is large where we can say that our model is significant since we reject the null hypothesis</a:t>
            </a:r>
          </a:p>
          <a:p>
            <a:pPr marL="285750" indent="-285750">
              <a:buFont typeface="Calibri"/>
              <a:buChar char="-"/>
            </a:pPr>
            <a:endParaRPr lang="en-US" dirty="0">
              <a:ea typeface="Calibri"/>
              <a:cs typeface="Calibri"/>
            </a:endParaRPr>
          </a:p>
          <a:p>
            <a:pPr marL="285750" indent="-285750">
              <a:buFont typeface="Calibri"/>
              <a:buChar char="-"/>
            </a:pPr>
            <a:endParaRPr lang="en-US" dirty="0">
              <a:ea typeface="Calibri"/>
              <a:cs typeface="Calibri"/>
            </a:endParaRPr>
          </a:p>
        </p:txBody>
      </p:sp>
    </p:spTree>
    <p:extLst>
      <p:ext uri="{BB962C8B-B14F-4D97-AF65-F5344CB8AC3E}">
        <p14:creationId xmlns:p14="http://schemas.microsoft.com/office/powerpoint/2010/main" val="3775637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015DB-4DB8-FE9E-9111-53FE8705C16B}"/>
              </a:ext>
            </a:extLst>
          </p:cNvPr>
          <p:cNvSpPr>
            <a:spLocks noGrp="1"/>
          </p:cNvSpPr>
          <p:nvPr>
            <p:ph type="title"/>
          </p:nvPr>
        </p:nvSpPr>
        <p:spPr>
          <a:xfrm>
            <a:off x="838200" y="365125"/>
            <a:ext cx="4176925" cy="1320710"/>
          </a:xfrm>
          <a:solidFill>
            <a:schemeClr val="accent1">
              <a:lumMod val="40000"/>
              <a:lumOff val="60000"/>
            </a:schemeClr>
          </a:solidFill>
        </p:spPr>
        <p:txBody>
          <a:bodyPr/>
          <a:lstStyle/>
          <a:p>
            <a:r>
              <a:rPr lang="en-US">
                <a:ea typeface="Calibri Light"/>
                <a:cs typeface="Calibri Light"/>
              </a:rPr>
              <a:t>Fit Diagnostics</a:t>
            </a:r>
            <a:endParaRPr lang="en-US"/>
          </a:p>
        </p:txBody>
      </p:sp>
      <p:pic>
        <p:nvPicPr>
          <p:cNvPr id="4" name="Picture 4" descr="Diagram, engineering drawing&#10;&#10;Description automatically generated">
            <a:extLst>
              <a:ext uri="{FF2B5EF4-FFF2-40B4-BE49-F238E27FC236}">
                <a16:creationId xmlns:a16="http://schemas.microsoft.com/office/drawing/2014/main" id="{0F485288-9337-4CEE-1C7A-AF533E8BC923}"/>
              </a:ext>
            </a:extLst>
          </p:cNvPr>
          <p:cNvPicPr>
            <a:picLocks noGrp="1" noChangeAspect="1"/>
          </p:cNvPicPr>
          <p:nvPr>
            <p:ph idx="1"/>
          </p:nvPr>
        </p:nvPicPr>
        <p:blipFill>
          <a:blip r:embed="rId2"/>
          <a:stretch>
            <a:fillRect/>
          </a:stretch>
        </p:blipFill>
        <p:spPr>
          <a:xfrm>
            <a:off x="-337" y="1680483"/>
            <a:ext cx="5148059" cy="5139256"/>
          </a:xfrm>
        </p:spPr>
      </p:pic>
      <p:sp>
        <p:nvSpPr>
          <p:cNvPr id="5" name="TextBox 4">
            <a:extLst>
              <a:ext uri="{FF2B5EF4-FFF2-40B4-BE49-F238E27FC236}">
                <a16:creationId xmlns:a16="http://schemas.microsoft.com/office/drawing/2014/main" id="{CDF9A50B-95BF-1D70-245D-3F19B8E8B67D}"/>
              </a:ext>
            </a:extLst>
          </p:cNvPr>
          <p:cNvSpPr txBox="1"/>
          <p:nvPr/>
        </p:nvSpPr>
        <p:spPr>
          <a:xfrm>
            <a:off x="1106196" y="337664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Application, scatter chart&#10;&#10;Description automatically generated">
            <a:extLst>
              <a:ext uri="{FF2B5EF4-FFF2-40B4-BE49-F238E27FC236}">
                <a16:creationId xmlns:a16="http://schemas.microsoft.com/office/drawing/2014/main" id="{B3DB9D4D-69E5-3783-CBC4-0FEA53CB1B6B}"/>
              </a:ext>
            </a:extLst>
          </p:cNvPr>
          <p:cNvPicPr>
            <a:picLocks noChangeAspect="1"/>
          </p:cNvPicPr>
          <p:nvPr/>
        </p:nvPicPr>
        <p:blipFill>
          <a:blip r:embed="rId3"/>
          <a:stretch>
            <a:fillRect/>
          </a:stretch>
        </p:blipFill>
        <p:spPr>
          <a:xfrm>
            <a:off x="5227217" y="3532360"/>
            <a:ext cx="4370873" cy="3287076"/>
          </a:xfrm>
          <a:prstGeom prst="rect">
            <a:avLst/>
          </a:prstGeom>
        </p:spPr>
      </p:pic>
      <p:pic>
        <p:nvPicPr>
          <p:cNvPr id="7" name="Picture 7" descr="Chart, scatter chart&#10;&#10;Description automatically generated">
            <a:extLst>
              <a:ext uri="{FF2B5EF4-FFF2-40B4-BE49-F238E27FC236}">
                <a16:creationId xmlns:a16="http://schemas.microsoft.com/office/drawing/2014/main" id="{F389746D-8735-D40C-E55A-A503DD0E08CE}"/>
              </a:ext>
            </a:extLst>
          </p:cNvPr>
          <p:cNvPicPr>
            <a:picLocks noChangeAspect="1"/>
          </p:cNvPicPr>
          <p:nvPr/>
        </p:nvPicPr>
        <p:blipFill>
          <a:blip r:embed="rId4"/>
          <a:stretch>
            <a:fillRect/>
          </a:stretch>
        </p:blipFill>
        <p:spPr>
          <a:xfrm>
            <a:off x="5227217" y="182927"/>
            <a:ext cx="4510832" cy="3345657"/>
          </a:xfrm>
          <a:prstGeom prst="rect">
            <a:avLst/>
          </a:prstGeom>
        </p:spPr>
      </p:pic>
      <p:pic>
        <p:nvPicPr>
          <p:cNvPr id="8" name="Picture 8" descr="Chart, scatter chart&#10;&#10;Description automatically generated">
            <a:extLst>
              <a:ext uri="{FF2B5EF4-FFF2-40B4-BE49-F238E27FC236}">
                <a16:creationId xmlns:a16="http://schemas.microsoft.com/office/drawing/2014/main" id="{D951B58A-A417-95B4-1971-55B12672C739}"/>
              </a:ext>
            </a:extLst>
          </p:cNvPr>
          <p:cNvPicPr>
            <a:picLocks noChangeAspect="1"/>
          </p:cNvPicPr>
          <p:nvPr/>
        </p:nvPicPr>
        <p:blipFill>
          <a:blip r:embed="rId5"/>
          <a:stretch>
            <a:fillRect/>
          </a:stretch>
        </p:blipFill>
        <p:spPr>
          <a:xfrm>
            <a:off x="9742454" y="2969953"/>
            <a:ext cx="2307254" cy="2162175"/>
          </a:xfrm>
          <a:prstGeom prst="rect">
            <a:avLst/>
          </a:prstGeom>
        </p:spPr>
      </p:pic>
    </p:spTree>
    <p:extLst>
      <p:ext uri="{BB962C8B-B14F-4D97-AF65-F5344CB8AC3E}">
        <p14:creationId xmlns:p14="http://schemas.microsoft.com/office/powerpoint/2010/main" val="2404361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2652143-FED4-73C7-52F6-F2A244C38602}"/>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dirty="0">
                <a:solidFill>
                  <a:schemeClr val="bg1">
                    <a:lumMod val="95000"/>
                    <a:lumOff val="5000"/>
                  </a:schemeClr>
                </a:solidFill>
                <a:cs typeface="Calibri Light"/>
              </a:rPr>
              <a:t>Different Model Approaches</a:t>
            </a:r>
          </a:p>
        </p:txBody>
      </p:sp>
    </p:spTree>
    <p:extLst>
      <p:ext uri="{BB962C8B-B14F-4D97-AF65-F5344CB8AC3E}">
        <p14:creationId xmlns:p14="http://schemas.microsoft.com/office/powerpoint/2010/main" val="93159323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34F40-D627-CF32-EED7-C8EE4B69D062}"/>
              </a:ext>
            </a:extLst>
          </p:cNvPr>
          <p:cNvSpPr>
            <a:spLocks noGrp="1"/>
          </p:cNvSpPr>
          <p:nvPr>
            <p:ph type="title"/>
          </p:nvPr>
        </p:nvSpPr>
        <p:spPr/>
        <p:txBody>
          <a:bodyPr/>
          <a:lstStyle/>
          <a:p>
            <a:r>
              <a:rPr lang="en-US" dirty="0">
                <a:cs typeface="Calibri Light"/>
              </a:rPr>
              <a:t>Model 1</a:t>
            </a:r>
          </a:p>
        </p:txBody>
      </p:sp>
      <p:pic>
        <p:nvPicPr>
          <p:cNvPr id="4" name="Picture 4" descr="Table&#10;&#10;Description automatically generated">
            <a:extLst>
              <a:ext uri="{FF2B5EF4-FFF2-40B4-BE49-F238E27FC236}">
                <a16:creationId xmlns:a16="http://schemas.microsoft.com/office/drawing/2014/main" id="{1FBCEC08-8D14-1AA6-8B92-142D99F2B4FE}"/>
              </a:ext>
            </a:extLst>
          </p:cNvPr>
          <p:cNvPicPr>
            <a:picLocks noGrp="1" noChangeAspect="1"/>
          </p:cNvPicPr>
          <p:nvPr>
            <p:ph idx="1"/>
          </p:nvPr>
        </p:nvPicPr>
        <p:blipFill>
          <a:blip r:embed="rId2"/>
          <a:stretch>
            <a:fillRect/>
          </a:stretch>
        </p:blipFill>
        <p:spPr>
          <a:xfrm>
            <a:off x="284951" y="2038156"/>
            <a:ext cx="5132137" cy="4817868"/>
          </a:xfrm>
        </p:spPr>
      </p:pic>
      <p:sp>
        <p:nvSpPr>
          <p:cNvPr id="5" name="TextBox 4">
            <a:extLst>
              <a:ext uri="{FF2B5EF4-FFF2-40B4-BE49-F238E27FC236}">
                <a16:creationId xmlns:a16="http://schemas.microsoft.com/office/drawing/2014/main" id="{D80989B0-A415-7BF4-2B67-FDD901728E89}"/>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Diagram&#10;&#10;Description automatically generated">
            <a:extLst>
              <a:ext uri="{FF2B5EF4-FFF2-40B4-BE49-F238E27FC236}">
                <a16:creationId xmlns:a16="http://schemas.microsoft.com/office/drawing/2014/main" id="{B1394715-8CE5-52C7-EAA6-CD140434B31A}"/>
              </a:ext>
            </a:extLst>
          </p:cNvPr>
          <p:cNvPicPr>
            <a:picLocks noChangeAspect="1"/>
          </p:cNvPicPr>
          <p:nvPr/>
        </p:nvPicPr>
        <p:blipFill>
          <a:blip r:embed="rId3"/>
          <a:stretch>
            <a:fillRect/>
          </a:stretch>
        </p:blipFill>
        <p:spPr>
          <a:xfrm>
            <a:off x="7399176" y="2052217"/>
            <a:ext cx="4754464" cy="4759648"/>
          </a:xfrm>
          <a:prstGeom prst="rect">
            <a:avLst/>
          </a:prstGeom>
        </p:spPr>
      </p:pic>
      <p:sp>
        <p:nvSpPr>
          <p:cNvPr id="7" name="TextBox 6">
            <a:extLst>
              <a:ext uri="{FF2B5EF4-FFF2-40B4-BE49-F238E27FC236}">
                <a16:creationId xmlns:a16="http://schemas.microsoft.com/office/drawing/2014/main" id="{382118F0-2BFF-B879-C3A1-FC5886FADB06}"/>
              </a:ext>
            </a:extLst>
          </p:cNvPr>
          <p:cNvSpPr txBox="1"/>
          <p:nvPr/>
        </p:nvSpPr>
        <p:spPr>
          <a:xfrm>
            <a:off x="7606522" y="5009502"/>
            <a:ext cx="4547118" cy="571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AC97E84A-C39F-ACBA-D86E-AC7A646B6725}"/>
              </a:ext>
            </a:extLst>
          </p:cNvPr>
          <p:cNvSpPr txBox="1"/>
          <p:nvPr/>
        </p:nvSpPr>
        <p:spPr>
          <a:xfrm>
            <a:off x="3919356" y="420065"/>
            <a:ext cx="65314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Calibri"/>
              </a:rPr>
              <a:t>Original Model with non-significant regressors removed</a:t>
            </a:r>
            <a:endParaRPr lang="en-US" sz="2000">
              <a:cs typeface="Calibri"/>
            </a:endParaRPr>
          </a:p>
        </p:txBody>
      </p:sp>
      <p:sp>
        <p:nvSpPr>
          <p:cNvPr id="9" name="TextBox 8">
            <a:extLst>
              <a:ext uri="{FF2B5EF4-FFF2-40B4-BE49-F238E27FC236}">
                <a16:creationId xmlns:a16="http://schemas.microsoft.com/office/drawing/2014/main" id="{80EBB21D-705C-DA0E-CD11-7B83C4B668A0}"/>
              </a:ext>
            </a:extLst>
          </p:cNvPr>
          <p:cNvSpPr txBox="1"/>
          <p:nvPr/>
        </p:nvSpPr>
        <p:spPr>
          <a:xfrm>
            <a:off x="5546530" y="4437224"/>
            <a:ext cx="172097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cs typeface="Calibri"/>
              </a:rPr>
              <a:t>0.02 smaller R</a:t>
            </a:r>
            <a:r>
              <a:rPr lang="en-US" baseline="30000" dirty="0">
                <a:cs typeface="Calibri"/>
              </a:rPr>
              <a:t>2</a:t>
            </a:r>
            <a:r>
              <a:rPr lang="en-US" dirty="0">
                <a:cs typeface="Calibri"/>
              </a:rPr>
              <a:t> value</a:t>
            </a:r>
            <a:endParaRPr lang="en-US" dirty="0"/>
          </a:p>
          <a:p>
            <a:pPr marL="285750" indent="-285750">
              <a:buFont typeface="Calibri"/>
              <a:buChar char="-"/>
            </a:pPr>
            <a:endParaRPr lang="en-US" dirty="0"/>
          </a:p>
          <a:p>
            <a:pPr marL="285750" indent="-285750">
              <a:buFont typeface="Calibri"/>
              <a:buChar char="-"/>
            </a:pPr>
            <a:r>
              <a:rPr lang="en-US" dirty="0">
                <a:cs typeface="Calibri" panose="020F0502020204030204"/>
              </a:rPr>
              <a:t>Larger F value</a:t>
            </a:r>
          </a:p>
        </p:txBody>
      </p:sp>
      <p:sp>
        <p:nvSpPr>
          <p:cNvPr id="3" name="TextBox 2">
            <a:extLst>
              <a:ext uri="{FF2B5EF4-FFF2-40B4-BE49-F238E27FC236}">
                <a16:creationId xmlns:a16="http://schemas.microsoft.com/office/drawing/2014/main" id="{DF0077F2-D4FC-F3C0-ED78-B4E56EA578E1}"/>
              </a:ext>
            </a:extLst>
          </p:cNvPr>
          <p:cNvSpPr txBox="1"/>
          <p:nvPr/>
        </p:nvSpPr>
        <p:spPr>
          <a:xfrm>
            <a:off x="5168746" y="1064964"/>
            <a:ext cx="48657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Variables Removed: </a:t>
            </a:r>
            <a:r>
              <a:rPr lang="en-US" dirty="0" err="1">
                <a:cs typeface="Calibri"/>
              </a:rPr>
              <a:t>Instrumentalness</a:t>
            </a:r>
            <a:r>
              <a:rPr lang="en-US" dirty="0">
                <a:cs typeface="Calibri"/>
              </a:rPr>
              <a:t>, Key, Loudness, Tempo, Seconds</a:t>
            </a:r>
            <a:endParaRPr lang="en-US" dirty="0"/>
          </a:p>
        </p:txBody>
      </p:sp>
    </p:spTree>
    <p:extLst>
      <p:ext uri="{BB962C8B-B14F-4D97-AF65-F5344CB8AC3E}">
        <p14:creationId xmlns:p14="http://schemas.microsoft.com/office/powerpoint/2010/main" val="1843919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F1450-54BE-F615-0591-D590F38E101E}"/>
              </a:ext>
            </a:extLst>
          </p:cNvPr>
          <p:cNvSpPr>
            <a:spLocks noGrp="1"/>
          </p:cNvSpPr>
          <p:nvPr>
            <p:ph type="title"/>
          </p:nvPr>
        </p:nvSpPr>
        <p:spPr>
          <a:xfrm>
            <a:off x="168007" y="144788"/>
            <a:ext cx="10515600" cy="1325563"/>
          </a:xfrm>
        </p:spPr>
        <p:txBody>
          <a:bodyPr/>
          <a:lstStyle/>
          <a:p>
            <a:r>
              <a:rPr lang="en-US" dirty="0">
                <a:cs typeface="Calibri Light"/>
              </a:rPr>
              <a:t>Forward Selection Technique</a:t>
            </a:r>
            <a:endParaRPr lang="en-US" dirty="0"/>
          </a:p>
        </p:txBody>
      </p:sp>
      <p:pic>
        <p:nvPicPr>
          <p:cNvPr id="4" name="Picture 4" descr="Table&#10;&#10;Description automatically generated">
            <a:extLst>
              <a:ext uri="{FF2B5EF4-FFF2-40B4-BE49-F238E27FC236}">
                <a16:creationId xmlns:a16="http://schemas.microsoft.com/office/drawing/2014/main" id="{57118ED5-DAFB-FD43-76D9-D91210D44EF0}"/>
              </a:ext>
            </a:extLst>
          </p:cNvPr>
          <p:cNvPicPr>
            <a:picLocks noGrp="1" noChangeAspect="1"/>
          </p:cNvPicPr>
          <p:nvPr>
            <p:ph idx="1"/>
          </p:nvPr>
        </p:nvPicPr>
        <p:blipFill>
          <a:blip r:embed="rId2"/>
          <a:stretch>
            <a:fillRect/>
          </a:stretch>
        </p:blipFill>
        <p:spPr>
          <a:xfrm>
            <a:off x="-335" y="2122230"/>
            <a:ext cx="4862954" cy="4768945"/>
          </a:xfrm>
        </p:spPr>
      </p:pic>
      <p:sp>
        <p:nvSpPr>
          <p:cNvPr id="5" name="TextBox 4">
            <a:extLst>
              <a:ext uri="{FF2B5EF4-FFF2-40B4-BE49-F238E27FC236}">
                <a16:creationId xmlns:a16="http://schemas.microsoft.com/office/drawing/2014/main" id="{D16ED98A-0EDF-CAC3-9CD5-89015B04FF41}"/>
              </a:ext>
            </a:extLst>
          </p:cNvPr>
          <p:cNvSpPr txBox="1"/>
          <p:nvPr/>
        </p:nvSpPr>
        <p:spPr>
          <a:xfrm>
            <a:off x="722604" y="388464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Diagram&#10;&#10;Description automatically generated">
            <a:extLst>
              <a:ext uri="{FF2B5EF4-FFF2-40B4-BE49-F238E27FC236}">
                <a16:creationId xmlns:a16="http://schemas.microsoft.com/office/drawing/2014/main" id="{CA6EA937-B9E7-B180-7BDB-15F3605919A3}"/>
              </a:ext>
            </a:extLst>
          </p:cNvPr>
          <p:cNvPicPr>
            <a:picLocks noChangeAspect="1"/>
          </p:cNvPicPr>
          <p:nvPr/>
        </p:nvPicPr>
        <p:blipFill>
          <a:blip r:embed="rId3"/>
          <a:stretch>
            <a:fillRect/>
          </a:stretch>
        </p:blipFill>
        <p:spPr>
          <a:xfrm>
            <a:off x="7502850" y="2137275"/>
            <a:ext cx="4687076" cy="4708755"/>
          </a:xfrm>
          <a:prstGeom prst="rect">
            <a:avLst/>
          </a:prstGeom>
        </p:spPr>
      </p:pic>
      <p:sp>
        <p:nvSpPr>
          <p:cNvPr id="3" name="TextBox 2">
            <a:extLst>
              <a:ext uri="{FF2B5EF4-FFF2-40B4-BE49-F238E27FC236}">
                <a16:creationId xmlns:a16="http://schemas.microsoft.com/office/drawing/2014/main" id="{DC32A580-1A56-463E-01FB-11181CFC2BF4}"/>
              </a:ext>
            </a:extLst>
          </p:cNvPr>
          <p:cNvSpPr txBox="1"/>
          <p:nvPr/>
        </p:nvSpPr>
        <p:spPr>
          <a:xfrm>
            <a:off x="6059276" y="1322023"/>
            <a:ext cx="52972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Variables Removed: </a:t>
            </a:r>
            <a:r>
              <a:rPr lang="en-US" dirty="0" err="1">
                <a:cs typeface="Calibri"/>
              </a:rPr>
              <a:t>Instrumentalness</a:t>
            </a:r>
            <a:r>
              <a:rPr lang="en-US" dirty="0">
                <a:cs typeface="Calibri"/>
              </a:rPr>
              <a:t>, Key, Loudness</a:t>
            </a:r>
            <a:endParaRPr lang="en-US" dirty="0"/>
          </a:p>
        </p:txBody>
      </p:sp>
    </p:spTree>
    <p:extLst>
      <p:ext uri="{BB962C8B-B14F-4D97-AF65-F5344CB8AC3E}">
        <p14:creationId xmlns:p14="http://schemas.microsoft.com/office/powerpoint/2010/main" val="4086809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46374-8749-1B75-8B7B-3E68696A3065}"/>
              </a:ext>
            </a:extLst>
          </p:cNvPr>
          <p:cNvSpPr>
            <a:spLocks noGrp="1"/>
          </p:cNvSpPr>
          <p:nvPr>
            <p:ph type="title"/>
          </p:nvPr>
        </p:nvSpPr>
        <p:spPr>
          <a:xfrm>
            <a:off x="186369" y="172330"/>
            <a:ext cx="10515600" cy="1325563"/>
          </a:xfrm>
        </p:spPr>
        <p:txBody>
          <a:bodyPr/>
          <a:lstStyle/>
          <a:p>
            <a:r>
              <a:rPr lang="en-US" dirty="0">
                <a:cs typeface="Calibri Light"/>
              </a:rPr>
              <a:t>Backward Elimination Technique</a:t>
            </a:r>
            <a:endParaRPr lang="en-US" dirty="0"/>
          </a:p>
        </p:txBody>
      </p:sp>
      <p:pic>
        <p:nvPicPr>
          <p:cNvPr id="4" name="Picture 4" descr="Table&#10;&#10;Description automatically generated">
            <a:extLst>
              <a:ext uri="{FF2B5EF4-FFF2-40B4-BE49-F238E27FC236}">
                <a16:creationId xmlns:a16="http://schemas.microsoft.com/office/drawing/2014/main" id="{2F6B9C13-5E98-72F5-8207-18FE4A83C059}"/>
              </a:ext>
            </a:extLst>
          </p:cNvPr>
          <p:cNvPicPr>
            <a:picLocks noGrp="1" noChangeAspect="1"/>
          </p:cNvPicPr>
          <p:nvPr>
            <p:ph idx="1"/>
          </p:nvPr>
        </p:nvPicPr>
        <p:blipFill>
          <a:blip r:embed="rId2"/>
          <a:stretch>
            <a:fillRect/>
          </a:stretch>
        </p:blipFill>
        <p:spPr>
          <a:xfrm>
            <a:off x="7647" y="2156825"/>
            <a:ext cx="4919562" cy="4715305"/>
          </a:xfrm>
        </p:spPr>
      </p:pic>
      <p:sp>
        <p:nvSpPr>
          <p:cNvPr id="5" name="TextBox 4">
            <a:extLst>
              <a:ext uri="{FF2B5EF4-FFF2-40B4-BE49-F238E27FC236}">
                <a16:creationId xmlns:a16="http://schemas.microsoft.com/office/drawing/2014/main" id="{12AF431D-08F1-41A3-CBB9-D55711F756FD}"/>
              </a:ext>
            </a:extLst>
          </p:cNvPr>
          <p:cNvSpPr txBox="1"/>
          <p:nvPr/>
        </p:nvSpPr>
        <p:spPr>
          <a:xfrm>
            <a:off x="484155" y="4195666"/>
            <a:ext cx="3650342" cy="4730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Diagram, engineering drawing&#10;&#10;Description automatically generated">
            <a:extLst>
              <a:ext uri="{FF2B5EF4-FFF2-40B4-BE49-F238E27FC236}">
                <a16:creationId xmlns:a16="http://schemas.microsoft.com/office/drawing/2014/main" id="{12C26FAE-93A5-C469-CB0E-3CBF75680A9A}"/>
              </a:ext>
            </a:extLst>
          </p:cNvPr>
          <p:cNvPicPr>
            <a:picLocks noChangeAspect="1"/>
          </p:cNvPicPr>
          <p:nvPr/>
        </p:nvPicPr>
        <p:blipFill>
          <a:blip r:embed="rId3"/>
          <a:stretch>
            <a:fillRect/>
          </a:stretch>
        </p:blipFill>
        <p:spPr>
          <a:xfrm>
            <a:off x="7518401" y="2154635"/>
            <a:ext cx="4671526" cy="4715507"/>
          </a:xfrm>
          <a:prstGeom prst="rect">
            <a:avLst/>
          </a:prstGeom>
        </p:spPr>
      </p:pic>
      <p:sp>
        <p:nvSpPr>
          <p:cNvPr id="3" name="TextBox 2">
            <a:extLst>
              <a:ext uri="{FF2B5EF4-FFF2-40B4-BE49-F238E27FC236}">
                <a16:creationId xmlns:a16="http://schemas.microsoft.com/office/drawing/2014/main" id="{EB4613B2-01CE-A6C8-952D-A66E4A91AC72}"/>
              </a:ext>
            </a:extLst>
          </p:cNvPr>
          <p:cNvSpPr txBox="1"/>
          <p:nvPr/>
        </p:nvSpPr>
        <p:spPr>
          <a:xfrm>
            <a:off x="6362241" y="1175133"/>
            <a:ext cx="40578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Variables Removed: Same as our first test</a:t>
            </a:r>
            <a:endParaRPr lang="en-US" dirty="0"/>
          </a:p>
        </p:txBody>
      </p:sp>
    </p:spTree>
    <p:extLst>
      <p:ext uri="{BB962C8B-B14F-4D97-AF65-F5344CB8AC3E}">
        <p14:creationId xmlns:p14="http://schemas.microsoft.com/office/powerpoint/2010/main" val="3380352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AD7FE-89E7-8DDE-A56D-14D304B505A7}"/>
              </a:ext>
            </a:extLst>
          </p:cNvPr>
          <p:cNvSpPr>
            <a:spLocks noGrp="1"/>
          </p:cNvSpPr>
          <p:nvPr>
            <p:ph type="title"/>
          </p:nvPr>
        </p:nvSpPr>
        <p:spPr>
          <a:xfrm>
            <a:off x="94561" y="71342"/>
            <a:ext cx="10515600" cy="1325563"/>
          </a:xfrm>
        </p:spPr>
        <p:txBody>
          <a:bodyPr/>
          <a:lstStyle/>
          <a:p>
            <a:r>
              <a:rPr lang="en-US" dirty="0">
                <a:cs typeface="Calibri Light"/>
              </a:rPr>
              <a:t>Stepwise Selection Technique</a:t>
            </a:r>
            <a:endParaRPr lang="en-US" dirty="0"/>
          </a:p>
        </p:txBody>
      </p:sp>
      <p:pic>
        <p:nvPicPr>
          <p:cNvPr id="4" name="Picture 4" descr="Table&#10;&#10;Description automatically generated">
            <a:extLst>
              <a:ext uri="{FF2B5EF4-FFF2-40B4-BE49-F238E27FC236}">
                <a16:creationId xmlns:a16="http://schemas.microsoft.com/office/drawing/2014/main" id="{8465ED61-88AB-D089-E67E-1CB8D188D5BB}"/>
              </a:ext>
            </a:extLst>
          </p:cNvPr>
          <p:cNvPicPr>
            <a:picLocks noGrp="1" noChangeAspect="1"/>
          </p:cNvPicPr>
          <p:nvPr>
            <p:ph idx="1"/>
          </p:nvPr>
        </p:nvPicPr>
        <p:blipFill>
          <a:blip r:embed="rId2"/>
          <a:stretch>
            <a:fillRect/>
          </a:stretch>
        </p:blipFill>
        <p:spPr>
          <a:xfrm>
            <a:off x="-4960" y="1885317"/>
            <a:ext cx="5006981" cy="4968035"/>
          </a:xfrm>
        </p:spPr>
      </p:pic>
      <p:sp>
        <p:nvSpPr>
          <p:cNvPr id="5" name="TextBox 4">
            <a:extLst>
              <a:ext uri="{FF2B5EF4-FFF2-40B4-BE49-F238E27FC236}">
                <a16:creationId xmlns:a16="http://schemas.microsoft.com/office/drawing/2014/main" id="{D589ED67-8C41-2135-9601-E85A249B2F8B}"/>
              </a:ext>
            </a:extLst>
          </p:cNvPr>
          <p:cNvSpPr txBox="1"/>
          <p:nvPr/>
        </p:nvSpPr>
        <p:spPr>
          <a:xfrm>
            <a:off x="504890" y="4102360"/>
            <a:ext cx="3650342" cy="4522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Diagram, engineering drawing&#10;&#10;Description automatically generated">
            <a:extLst>
              <a:ext uri="{FF2B5EF4-FFF2-40B4-BE49-F238E27FC236}">
                <a16:creationId xmlns:a16="http://schemas.microsoft.com/office/drawing/2014/main" id="{75853A31-EFD0-738E-0C87-A301BE5950D6}"/>
              </a:ext>
            </a:extLst>
          </p:cNvPr>
          <p:cNvPicPr>
            <a:picLocks noChangeAspect="1"/>
          </p:cNvPicPr>
          <p:nvPr/>
        </p:nvPicPr>
        <p:blipFill>
          <a:blip r:embed="rId3"/>
          <a:stretch>
            <a:fillRect/>
          </a:stretch>
        </p:blipFill>
        <p:spPr>
          <a:xfrm>
            <a:off x="7191829" y="1825917"/>
            <a:ext cx="4998098" cy="5020453"/>
          </a:xfrm>
          <a:prstGeom prst="rect">
            <a:avLst/>
          </a:prstGeom>
        </p:spPr>
      </p:pic>
      <p:sp>
        <p:nvSpPr>
          <p:cNvPr id="3" name="TextBox 2">
            <a:extLst>
              <a:ext uri="{FF2B5EF4-FFF2-40B4-BE49-F238E27FC236}">
                <a16:creationId xmlns:a16="http://schemas.microsoft.com/office/drawing/2014/main" id="{7640F90B-41EB-49CB-F04E-30996208C15F}"/>
              </a:ext>
            </a:extLst>
          </p:cNvPr>
          <p:cNvSpPr txBox="1"/>
          <p:nvPr/>
        </p:nvSpPr>
        <p:spPr>
          <a:xfrm>
            <a:off x="5793036" y="1184312"/>
            <a:ext cx="59858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Variables Removed: </a:t>
            </a:r>
            <a:r>
              <a:rPr lang="en-US" dirty="0" err="1">
                <a:cs typeface="Calibri"/>
              </a:rPr>
              <a:t>Instrumentalness</a:t>
            </a:r>
            <a:r>
              <a:rPr lang="en-US" dirty="0">
                <a:cs typeface="Calibri"/>
              </a:rPr>
              <a:t>, Key, Loudness, Seconds</a:t>
            </a:r>
            <a:endParaRPr lang="en-US" dirty="0"/>
          </a:p>
        </p:txBody>
      </p:sp>
    </p:spTree>
    <p:extLst>
      <p:ext uri="{BB962C8B-B14F-4D97-AF65-F5344CB8AC3E}">
        <p14:creationId xmlns:p14="http://schemas.microsoft.com/office/powerpoint/2010/main" val="2440184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9CE26-04BA-4F78-CFAB-9762E0DA3524}"/>
              </a:ext>
            </a:extLst>
          </p:cNvPr>
          <p:cNvSpPr>
            <a:spLocks noGrp="1"/>
          </p:cNvSpPr>
          <p:nvPr>
            <p:ph type="title"/>
          </p:nvPr>
        </p:nvSpPr>
        <p:spPr/>
        <p:txBody>
          <a:bodyPr/>
          <a:lstStyle/>
          <a:p>
            <a:r>
              <a:rPr lang="en-US" dirty="0">
                <a:cs typeface="Calibri Light"/>
              </a:rPr>
              <a:t>Oh my... Do Not Remove Likes and Comments</a:t>
            </a:r>
            <a:endParaRPr lang="en-US" dirty="0"/>
          </a:p>
        </p:txBody>
      </p:sp>
      <p:pic>
        <p:nvPicPr>
          <p:cNvPr id="4" name="Picture 4" descr="Table&#10;&#10;Description automatically generated">
            <a:extLst>
              <a:ext uri="{FF2B5EF4-FFF2-40B4-BE49-F238E27FC236}">
                <a16:creationId xmlns:a16="http://schemas.microsoft.com/office/drawing/2014/main" id="{A9FBC9C1-5C0D-7268-8EF6-160989B72C7C}"/>
              </a:ext>
            </a:extLst>
          </p:cNvPr>
          <p:cNvPicPr>
            <a:picLocks noGrp="1" noChangeAspect="1"/>
          </p:cNvPicPr>
          <p:nvPr>
            <p:ph idx="1"/>
          </p:nvPr>
        </p:nvPicPr>
        <p:blipFill>
          <a:blip r:embed="rId2"/>
          <a:stretch>
            <a:fillRect/>
          </a:stretch>
        </p:blipFill>
        <p:spPr>
          <a:xfrm>
            <a:off x="-574" y="1633830"/>
            <a:ext cx="5423270" cy="5222195"/>
          </a:xfrm>
        </p:spPr>
      </p:pic>
      <p:sp>
        <p:nvSpPr>
          <p:cNvPr id="5" name="TextBox 4">
            <a:extLst>
              <a:ext uri="{FF2B5EF4-FFF2-40B4-BE49-F238E27FC236}">
                <a16:creationId xmlns:a16="http://schemas.microsoft.com/office/drawing/2014/main" id="{0E70E36B-93D5-E048-DEA3-FCC4D9A6FF94}"/>
              </a:ext>
            </a:extLst>
          </p:cNvPr>
          <p:cNvSpPr txBox="1"/>
          <p:nvPr/>
        </p:nvSpPr>
        <p:spPr>
          <a:xfrm>
            <a:off x="1977053" y="387427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pic>
        <p:nvPicPr>
          <p:cNvPr id="6" name="Picture 6" descr="Graphical user interface, diagram&#10;&#10;Description automatically generated">
            <a:extLst>
              <a:ext uri="{FF2B5EF4-FFF2-40B4-BE49-F238E27FC236}">
                <a16:creationId xmlns:a16="http://schemas.microsoft.com/office/drawing/2014/main" id="{FB9047CE-3C55-3DCC-437E-791EF5390CAE}"/>
              </a:ext>
            </a:extLst>
          </p:cNvPr>
          <p:cNvPicPr>
            <a:picLocks noChangeAspect="1"/>
          </p:cNvPicPr>
          <p:nvPr/>
        </p:nvPicPr>
        <p:blipFill>
          <a:blip r:embed="rId3"/>
          <a:stretch>
            <a:fillRect/>
          </a:stretch>
        </p:blipFill>
        <p:spPr>
          <a:xfrm>
            <a:off x="6958564" y="1636579"/>
            <a:ext cx="5231363" cy="5222883"/>
          </a:xfrm>
          <a:prstGeom prst="rect">
            <a:avLst/>
          </a:prstGeom>
        </p:spPr>
      </p:pic>
    </p:spTree>
    <p:extLst>
      <p:ext uri="{BB962C8B-B14F-4D97-AF65-F5344CB8AC3E}">
        <p14:creationId xmlns:p14="http://schemas.microsoft.com/office/powerpoint/2010/main" val="2903749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B44FB-5A85-F5E4-69D7-352167E41956}"/>
              </a:ext>
            </a:extLst>
          </p:cNvPr>
          <p:cNvSpPr>
            <a:spLocks noGrp="1"/>
          </p:cNvSpPr>
          <p:nvPr>
            <p:ph type="title"/>
          </p:nvPr>
        </p:nvSpPr>
        <p:spPr/>
        <p:txBody>
          <a:bodyPr/>
          <a:lstStyle/>
          <a:p>
            <a:r>
              <a:rPr lang="en-US" dirty="0">
                <a:cs typeface="Calibri Light"/>
              </a:rPr>
              <a:t>Selected Model</a:t>
            </a:r>
            <a:endParaRPr lang="en-US" dirty="0"/>
          </a:p>
        </p:txBody>
      </p:sp>
      <p:sp>
        <p:nvSpPr>
          <p:cNvPr id="3" name="Content Placeholder 2">
            <a:extLst>
              <a:ext uri="{FF2B5EF4-FFF2-40B4-BE49-F238E27FC236}">
                <a16:creationId xmlns:a16="http://schemas.microsoft.com/office/drawing/2014/main" id="{C222C91A-D2A9-31B7-ED58-EE262BD17DE3}"/>
              </a:ext>
            </a:extLst>
          </p:cNvPr>
          <p:cNvSpPr>
            <a:spLocks noGrp="1"/>
          </p:cNvSpPr>
          <p:nvPr>
            <p:ph idx="1"/>
          </p:nvPr>
        </p:nvSpPr>
        <p:spPr>
          <a:xfrm>
            <a:off x="838200" y="1566441"/>
            <a:ext cx="10515600" cy="1458849"/>
          </a:xfrm>
        </p:spPr>
        <p:txBody>
          <a:bodyPr vert="horz" lIns="91440" tIns="45720" rIns="91440" bIns="45720" rtlCol="0" anchor="t">
            <a:normAutofit lnSpcReduction="10000"/>
          </a:bodyPr>
          <a:lstStyle/>
          <a:p>
            <a:r>
              <a:rPr lang="en-US" sz="2400" dirty="0">
                <a:cs typeface="Calibri"/>
              </a:rPr>
              <a:t>We decided to go with our original model with insignificant variables removed, which was also the same model that our backward elimination technique gave us.  I.E., the one where our variables:</a:t>
            </a:r>
          </a:p>
          <a:p>
            <a:pPr marL="457200" lvl="1" indent="0">
              <a:buNone/>
            </a:pPr>
            <a:r>
              <a:rPr lang="en-US" dirty="0">
                <a:ea typeface="+mn-lt"/>
                <a:cs typeface="+mn-lt"/>
              </a:rPr>
              <a:t>Loudness, Key, </a:t>
            </a:r>
            <a:r>
              <a:rPr lang="en-US" dirty="0" err="1">
                <a:ea typeface="+mn-lt"/>
                <a:cs typeface="+mn-lt"/>
              </a:rPr>
              <a:t>Instrumentalness</a:t>
            </a:r>
            <a:r>
              <a:rPr lang="en-US" dirty="0">
                <a:ea typeface="+mn-lt"/>
                <a:cs typeface="+mn-lt"/>
              </a:rPr>
              <a:t>, Seconds, and Tempo were </a:t>
            </a:r>
            <a:r>
              <a:rPr lang="en-US" i="1" dirty="0">
                <a:ea typeface="+mn-lt"/>
                <a:cs typeface="+mn-lt"/>
              </a:rPr>
              <a:t>removed</a:t>
            </a:r>
            <a:endParaRPr lang="en-US" dirty="0">
              <a:cs typeface="Calibri"/>
            </a:endParaRPr>
          </a:p>
        </p:txBody>
      </p:sp>
      <p:pic>
        <p:nvPicPr>
          <p:cNvPr id="4" name="Picture 4" descr="Table&#10;&#10;Description automatically generated">
            <a:extLst>
              <a:ext uri="{FF2B5EF4-FFF2-40B4-BE49-F238E27FC236}">
                <a16:creationId xmlns:a16="http://schemas.microsoft.com/office/drawing/2014/main" id="{72F7298A-6378-6103-EC30-AD72AACDD591}"/>
              </a:ext>
            </a:extLst>
          </p:cNvPr>
          <p:cNvPicPr>
            <a:picLocks noChangeAspect="1"/>
          </p:cNvPicPr>
          <p:nvPr/>
        </p:nvPicPr>
        <p:blipFill>
          <a:blip r:embed="rId2"/>
          <a:stretch>
            <a:fillRect/>
          </a:stretch>
        </p:blipFill>
        <p:spPr>
          <a:xfrm>
            <a:off x="193870" y="3242204"/>
            <a:ext cx="3842137" cy="3613386"/>
          </a:xfrm>
          <a:prstGeom prst="rect">
            <a:avLst/>
          </a:prstGeom>
        </p:spPr>
      </p:pic>
      <p:sp>
        <p:nvSpPr>
          <p:cNvPr id="5" name="TextBox 4">
            <a:extLst>
              <a:ext uri="{FF2B5EF4-FFF2-40B4-BE49-F238E27FC236}">
                <a16:creationId xmlns:a16="http://schemas.microsoft.com/office/drawing/2014/main" id="{A77F8810-00B3-3FD6-F590-01D3F96F6417}"/>
              </a:ext>
            </a:extLst>
          </p:cNvPr>
          <p:cNvSpPr txBox="1"/>
          <p:nvPr/>
        </p:nvSpPr>
        <p:spPr>
          <a:xfrm>
            <a:off x="5159829" y="5413828"/>
            <a:ext cx="2380343" cy="2915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0FF890B8-ED1E-EC15-88F5-FD9D84B57A5A}"/>
              </a:ext>
            </a:extLst>
          </p:cNvPr>
          <p:cNvSpPr txBox="1"/>
          <p:nvPr/>
        </p:nvSpPr>
        <p:spPr>
          <a:xfrm>
            <a:off x="4416490" y="3566367"/>
            <a:ext cx="618930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0" i="0">
                <a:solidFill>
                  <a:srgbClr val="000000"/>
                </a:solidFill>
                <a:latin typeface="Calibri"/>
                <a:ea typeface="Calibri"/>
                <a:cs typeface="Calibri"/>
              </a:rPr>
              <a:t>Total_Listens = 486,607,110 – 130,314,759 * Danceability – 135,307,037 * Energy – 262,102,939 * Speechiness – 154,565,893 * Acousticness – 91,983,381 * Liveness + 84,875,223 * Valence + 235.7839 * Likes – 521.49456 * Comments</a:t>
            </a:r>
            <a:endParaRPr lang="en-US"/>
          </a:p>
        </p:txBody>
      </p:sp>
      <p:sp>
        <p:nvSpPr>
          <p:cNvPr id="7" name="TextBox 6">
            <a:extLst>
              <a:ext uri="{FF2B5EF4-FFF2-40B4-BE49-F238E27FC236}">
                <a16:creationId xmlns:a16="http://schemas.microsoft.com/office/drawing/2014/main" id="{EA2C2BD8-7085-10BC-9200-88D7CEC2FA5F}"/>
              </a:ext>
            </a:extLst>
          </p:cNvPr>
          <p:cNvSpPr txBox="1"/>
          <p:nvPr/>
        </p:nvSpPr>
        <p:spPr>
          <a:xfrm>
            <a:off x="4385388" y="5536163"/>
            <a:ext cx="60856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Again, we have no issues with multicollinearity as all our VIF values are very small</a:t>
            </a:r>
            <a:endParaRPr lang="en-US" dirty="0"/>
          </a:p>
        </p:txBody>
      </p:sp>
    </p:spTree>
    <p:extLst>
      <p:ext uri="{BB962C8B-B14F-4D97-AF65-F5344CB8AC3E}">
        <p14:creationId xmlns:p14="http://schemas.microsoft.com/office/powerpoint/2010/main" val="2756756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29836-F513-D067-808C-5E07C98F6247}"/>
              </a:ext>
            </a:extLst>
          </p:cNvPr>
          <p:cNvSpPr>
            <a:spLocks noGrp="1"/>
          </p:cNvSpPr>
          <p:nvPr>
            <p:ph type="title"/>
          </p:nvPr>
        </p:nvSpPr>
        <p:spPr/>
        <p:txBody>
          <a:bodyPr/>
          <a:lstStyle/>
          <a:p>
            <a:r>
              <a:rPr lang="en-US" dirty="0">
                <a:cs typeface="Calibri Light"/>
              </a:rPr>
              <a:t>Fit Diagnostics for our Model</a:t>
            </a:r>
            <a:endParaRPr lang="en-US" dirty="0"/>
          </a:p>
        </p:txBody>
      </p:sp>
      <p:pic>
        <p:nvPicPr>
          <p:cNvPr id="4" name="Picture 4" descr="Diagram&#10;&#10;Description automatically generated">
            <a:extLst>
              <a:ext uri="{FF2B5EF4-FFF2-40B4-BE49-F238E27FC236}">
                <a16:creationId xmlns:a16="http://schemas.microsoft.com/office/drawing/2014/main" id="{F5D7D149-7AB4-DC88-C998-90421CC4EBDB}"/>
              </a:ext>
            </a:extLst>
          </p:cNvPr>
          <p:cNvPicPr>
            <a:picLocks noGrp="1" noChangeAspect="1"/>
          </p:cNvPicPr>
          <p:nvPr>
            <p:ph idx="1"/>
          </p:nvPr>
        </p:nvPicPr>
        <p:blipFill>
          <a:blip r:embed="rId2"/>
          <a:stretch>
            <a:fillRect/>
          </a:stretch>
        </p:blipFill>
        <p:spPr>
          <a:xfrm>
            <a:off x="1474" y="1509421"/>
            <a:ext cx="5346603" cy="5346603"/>
          </a:xfrm>
        </p:spPr>
      </p:pic>
      <p:sp>
        <p:nvSpPr>
          <p:cNvPr id="5" name="TextBox 4">
            <a:extLst>
              <a:ext uri="{FF2B5EF4-FFF2-40B4-BE49-F238E27FC236}">
                <a16:creationId xmlns:a16="http://schemas.microsoft.com/office/drawing/2014/main" id="{70DF319A-3D96-4387-A73D-01E04FB21316}"/>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17CA9A6B-DB35-C26F-75FA-0C500FF07BE2}"/>
              </a:ext>
            </a:extLst>
          </p:cNvPr>
          <p:cNvSpPr txBox="1"/>
          <p:nvPr/>
        </p:nvSpPr>
        <p:spPr>
          <a:xfrm>
            <a:off x="5836816" y="1627673"/>
            <a:ext cx="619967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cs typeface="Calibri"/>
              </a:rPr>
              <a:t>Much like our original model.  As well as our R2 values.  </a:t>
            </a:r>
          </a:p>
          <a:p>
            <a:pPr marL="285750" indent="-285750">
              <a:buFont typeface="Calibri"/>
              <a:buChar char="-"/>
            </a:pPr>
            <a:endParaRPr lang="en-US" dirty="0">
              <a:cs typeface="Calibri"/>
            </a:endParaRPr>
          </a:p>
          <a:p>
            <a:pPr marL="285750" indent="-285750">
              <a:buFont typeface="Calibri"/>
              <a:buChar char="-"/>
            </a:pPr>
            <a:r>
              <a:rPr lang="en-US" dirty="0">
                <a:cs typeface="Calibri"/>
              </a:rPr>
              <a:t>There is one clear influential point when it comes to Cook's D and our R-student vs leverage plots... do you know what song that is?</a:t>
            </a:r>
          </a:p>
        </p:txBody>
      </p:sp>
      <p:pic>
        <p:nvPicPr>
          <p:cNvPr id="7" name="Picture 7" descr="Chart, scatter chart&#10;&#10;Description automatically generated">
            <a:extLst>
              <a:ext uri="{FF2B5EF4-FFF2-40B4-BE49-F238E27FC236}">
                <a16:creationId xmlns:a16="http://schemas.microsoft.com/office/drawing/2014/main" id="{1F256A1E-031A-C98D-9651-FAC4FCBD71FF}"/>
              </a:ext>
            </a:extLst>
          </p:cNvPr>
          <p:cNvPicPr>
            <a:picLocks noChangeAspect="1"/>
          </p:cNvPicPr>
          <p:nvPr/>
        </p:nvPicPr>
        <p:blipFill>
          <a:blip r:embed="rId3"/>
          <a:stretch>
            <a:fillRect/>
          </a:stretch>
        </p:blipFill>
        <p:spPr>
          <a:xfrm>
            <a:off x="5444931" y="3106416"/>
            <a:ext cx="6744995" cy="2692718"/>
          </a:xfrm>
          <a:prstGeom prst="rect">
            <a:avLst/>
          </a:prstGeom>
        </p:spPr>
      </p:pic>
      <p:sp>
        <p:nvSpPr>
          <p:cNvPr id="8" name="TextBox 7">
            <a:extLst>
              <a:ext uri="{FF2B5EF4-FFF2-40B4-BE49-F238E27FC236}">
                <a16:creationId xmlns:a16="http://schemas.microsoft.com/office/drawing/2014/main" id="{5F70AF4E-1249-0CC2-3C29-5676F3B8B23A}"/>
              </a:ext>
            </a:extLst>
          </p:cNvPr>
          <p:cNvSpPr txBox="1"/>
          <p:nvPr/>
        </p:nvSpPr>
        <p:spPr>
          <a:xfrm>
            <a:off x="5484326" y="5919755"/>
            <a:ext cx="668693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Although our data is not in a time order, there does not seem to be any issue with correlation between our variables, as these points have a great range of values, and we can't see any clear pattern.</a:t>
            </a:r>
            <a:endParaRPr lang="en-US" dirty="0"/>
          </a:p>
        </p:txBody>
      </p:sp>
    </p:spTree>
    <p:extLst>
      <p:ext uri="{BB962C8B-B14F-4D97-AF65-F5344CB8AC3E}">
        <p14:creationId xmlns:p14="http://schemas.microsoft.com/office/powerpoint/2010/main" val="3118620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70EAC-2CCE-FD28-38CF-D9EB2ACC1253}"/>
              </a:ext>
            </a:extLst>
          </p:cNvPr>
          <p:cNvSpPr>
            <a:spLocks noGrp="1"/>
          </p:cNvSpPr>
          <p:nvPr>
            <p:ph type="title"/>
          </p:nvPr>
        </p:nvSpPr>
        <p:spPr>
          <a:xfrm>
            <a:off x="838200" y="365125"/>
            <a:ext cx="10515600" cy="898455"/>
          </a:xfrm>
          <a:solidFill>
            <a:schemeClr val="accent1">
              <a:lumMod val="40000"/>
              <a:lumOff val="60000"/>
            </a:schemeClr>
          </a:solidFill>
        </p:spPr>
        <p:txBody>
          <a:bodyPr/>
          <a:lstStyle/>
          <a:p>
            <a:r>
              <a:rPr lang="en-US" dirty="0">
                <a:cs typeface="Calibri Light"/>
              </a:rPr>
              <a:t>Leverage and Influential Points</a:t>
            </a:r>
            <a:endParaRPr lang="en-US" dirty="0"/>
          </a:p>
        </p:txBody>
      </p:sp>
      <p:pic>
        <p:nvPicPr>
          <p:cNvPr id="4" name="Picture 4" descr="Table&#10;&#10;Description automatically generated">
            <a:extLst>
              <a:ext uri="{FF2B5EF4-FFF2-40B4-BE49-F238E27FC236}">
                <a16:creationId xmlns:a16="http://schemas.microsoft.com/office/drawing/2014/main" id="{A19F39A5-62C7-36A7-4AE6-B85C7BBE4668}"/>
              </a:ext>
            </a:extLst>
          </p:cNvPr>
          <p:cNvPicPr>
            <a:picLocks noGrp="1" noChangeAspect="1"/>
          </p:cNvPicPr>
          <p:nvPr>
            <p:ph idx="1"/>
          </p:nvPr>
        </p:nvPicPr>
        <p:blipFill>
          <a:blip r:embed="rId2"/>
          <a:stretch>
            <a:fillRect/>
          </a:stretch>
        </p:blipFill>
        <p:spPr>
          <a:xfrm>
            <a:off x="2736" y="1526722"/>
            <a:ext cx="7860306" cy="5310317"/>
          </a:xfrm>
        </p:spPr>
      </p:pic>
      <p:sp>
        <p:nvSpPr>
          <p:cNvPr id="5" name="TextBox 4">
            <a:extLst>
              <a:ext uri="{FF2B5EF4-FFF2-40B4-BE49-F238E27FC236}">
                <a16:creationId xmlns:a16="http://schemas.microsoft.com/office/drawing/2014/main" id="{D67E0F8E-6B29-8983-8A37-5DFDA0109FDA}"/>
              </a:ext>
            </a:extLst>
          </p:cNvPr>
          <p:cNvSpPr txBox="1"/>
          <p:nvPr/>
        </p:nvSpPr>
        <p:spPr>
          <a:xfrm>
            <a:off x="1851126" y="3834558"/>
            <a:ext cx="3349689" cy="3952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824FDF22-7071-4401-5F15-52A7DFE0C702}"/>
              </a:ext>
            </a:extLst>
          </p:cNvPr>
          <p:cNvSpPr txBox="1"/>
          <p:nvPr/>
        </p:nvSpPr>
        <p:spPr>
          <a:xfrm>
            <a:off x="8117631" y="1212979"/>
            <a:ext cx="401216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cs typeface="Calibri"/>
              </a:rPr>
              <a:t>Sorted data by their leverage on the data set</a:t>
            </a:r>
          </a:p>
          <a:p>
            <a:pPr marL="285750" indent="-285750">
              <a:buFont typeface="Calibri"/>
              <a:buChar char="-"/>
            </a:pPr>
            <a:endParaRPr lang="en-US" dirty="0">
              <a:cs typeface="Calibri"/>
            </a:endParaRPr>
          </a:p>
          <a:p>
            <a:pPr marL="285750" indent="-285750">
              <a:buFont typeface="Calibri"/>
              <a:buChar char="-"/>
            </a:pPr>
            <a:r>
              <a:rPr lang="en-US" dirty="0">
                <a:ea typeface="+mn-lt"/>
                <a:cs typeface="+mn-lt"/>
              </a:rPr>
              <a:t>246 points with a value over </a:t>
            </a:r>
          </a:p>
          <a:p>
            <a:r>
              <a:rPr lang="en-US" dirty="0">
                <a:ea typeface="+mn-lt"/>
                <a:cs typeface="+mn-lt"/>
              </a:rPr>
              <a:t>2*(9/4500) = .004.</a:t>
            </a:r>
          </a:p>
          <a:p>
            <a:endParaRPr lang="en-US" dirty="0">
              <a:cs typeface="Calibri"/>
            </a:endParaRPr>
          </a:p>
          <a:p>
            <a:pPr marL="342900" indent="-342900">
              <a:buFont typeface="Calibri"/>
              <a:buChar char="-"/>
            </a:pPr>
            <a:r>
              <a:rPr lang="en-US" dirty="0">
                <a:cs typeface="Calibri"/>
              </a:rPr>
              <a:t>One observation clearly stands out... that being "Dynamite" by BTS, which also has a Cook's D of almost 9! (observation 2753)</a:t>
            </a:r>
          </a:p>
        </p:txBody>
      </p:sp>
    </p:spTree>
    <p:extLst>
      <p:ext uri="{BB962C8B-B14F-4D97-AF65-F5344CB8AC3E}">
        <p14:creationId xmlns:p14="http://schemas.microsoft.com/office/powerpoint/2010/main" val="3851673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4F16F-36BA-2AE2-6D76-3731C147DF5E}"/>
              </a:ext>
            </a:extLst>
          </p:cNvPr>
          <p:cNvSpPr>
            <a:spLocks noGrp="1"/>
          </p:cNvSpPr>
          <p:nvPr>
            <p:ph type="title"/>
          </p:nvPr>
        </p:nvSpPr>
        <p:spPr>
          <a:solidFill>
            <a:schemeClr val="accent1">
              <a:lumMod val="40000"/>
              <a:lumOff val="60000"/>
            </a:schemeClr>
          </a:solidFill>
        </p:spPr>
        <p:txBody>
          <a:bodyPr/>
          <a:lstStyle/>
          <a:p>
            <a:r>
              <a:rPr lang="en-US" dirty="0">
                <a:cs typeface="Calibri Light"/>
              </a:rPr>
              <a:t>Leverage and Influential Points Cont.</a:t>
            </a:r>
            <a:endParaRPr lang="en-US" dirty="0"/>
          </a:p>
        </p:txBody>
      </p:sp>
      <p:sp>
        <p:nvSpPr>
          <p:cNvPr id="3" name="Content Placeholder 2">
            <a:extLst>
              <a:ext uri="{FF2B5EF4-FFF2-40B4-BE49-F238E27FC236}">
                <a16:creationId xmlns:a16="http://schemas.microsoft.com/office/drawing/2014/main" id="{60073C5C-2688-2C81-CDFC-4283D7670977}"/>
              </a:ext>
            </a:extLst>
          </p:cNvPr>
          <p:cNvSpPr>
            <a:spLocks noGrp="1"/>
          </p:cNvSpPr>
          <p:nvPr>
            <p:ph idx="1"/>
          </p:nvPr>
        </p:nvSpPr>
        <p:spPr/>
        <p:txBody>
          <a:bodyPr vert="horz" lIns="91440" tIns="45720" rIns="91440" bIns="45720" rtlCol="0" anchor="t">
            <a:normAutofit/>
          </a:bodyPr>
          <a:lstStyle/>
          <a:p>
            <a:r>
              <a:rPr lang="en-US" sz="2000" dirty="0">
                <a:ea typeface="+mn-lt"/>
                <a:cs typeface="+mn-lt"/>
              </a:rPr>
              <a:t>"Dynamite" by BTS also has by far the highest Residual and </a:t>
            </a:r>
            <a:r>
              <a:rPr lang="en-US" sz="2000" dirty="0" err="1">
                <a:ea typeface="+mn-lt"/>
                <a:cs typeface="+mn-lt"/>
              </a:rPr>
              <a:t>RStudent</a:t>
            </a:r>
            <a:r>
              <a:rPr lang="en-US" sz="2000" dirty="0">
                <a:ea typeface="+mn-lt"/>
                <a:cs typeface="+mn-lt"/>
              </a:rPr>
              <a:t> values, with an </a:t>
            </a:r>
            <a:r>
              <a:rPr lang="en-US" sz="2000" dirty="0" err="1">
                <a:ea typeface="+mn-lt"/>
                <a:cs typeface="+mn-lt"/>
              </a:rPr>
              <a:t>RStudent</a:t>
            </a:r>
            <a:r>
              <a:rPr lang="en-US" sz="2000" dirty="0">
                <a:ea typeface="+mn-lt"/>
                <a:cs typeface="+mn-lt"/>
              </a:rPr>
              <a:t> value of 10.2, it is easily an influential point. </a:t>
            </a:r>
          </a:p>
          <a:p>
            <a:r>
              <a:rPr lang="en-US" sz="2000" dirty="0">
                <a:ea typeface="+mn-lt"/>
                <a:cs typeface="+mn-lt"/>
              </a:rPr>
              <a:t>Also, if we consider any point with an </a:t>
            </a:r>
            <a:r>
              <a:rPr lang="en-US" sz="2000" u="sng" err="1">
                <a:ea typeface="+mn-lt"/>
                <a:cs typeface="+mn-lt"/>
              </a:rPr>
              <a:t>RStudent</a:t>
            </a:r>
            <a:r>
              <a:rPr lang="en-US" sz="2000" u="sng" dirty="0">
                <a:ea typeface="+mn-lt"/>
                <a:cs typeface="+mn-lt"/>
              </a:rPr>
              <a:t> </a:t>
            </a:r>
            <a:r>
              <a:rPr lang="en-US" sz="2000" dirty="0">
                <a:ea typeface="+mn-lt"/>
                <a:cs typeface="+mn-lt"/>
              </a:rPr>
              <a:t>value </a:t>
            </a:r>
            <a:r>
              <a:rPr lang="en-US" sz="2000" u="sng" dirty="0">
                <a:ea typeface="+mn-lt"/>
                <a:cs typeface="+mn-lt"/>
              </a:rPr>
              <a:t>over 3 as too high</a:t>
            </a:r>
            <a:r>
              <a:rPr lang="en-US" sz="2000" dirty="0">
                <a:ea typeface="+mn-lt"/>
                <a:cs typeface="+mn-lt"/>
              </a:rPr>
              <a:t>, observations:</a:t>
            </a:r>
          </a:p>
          <a:p>
            <a:pPr marL="0" indent="0">
              <a:buNone/>
            </a:pPr>
            <a:r>
              <a:rPr lang="en-US" sz="2000" dirty="0">
                <a:ea typeface="+mn-lt"/>
                <a:cs typeface="+mn-lt"/>
              </a:rPr>
              <a:t> 1548, 1594, 1797, 1829, 2154, 2156, 2244, 2315, 2620, 2622, 2771, 3045, 3361, 3631, 3697, 4452, and 4453       (17 songs)      Can also be considered influential points</a:t>
            </a:r>
            <a:endParaRPr lang="en-US" sz="2000" dirty="0">
              <a:cs typeface="Calibri"/>
            </a:endParaRPr>
          </a:p>
        </p:txBody>
      </p:sp>
      <p:pic>
        <p:nvPicPr>
          <p:cNvPr id="4" name="Picture 4">
            <a:extLst>
              <a:ext uri="{FF2B5EF4-FFF2-40B4-BE49-F238E27FC236}">
                <a16:creationId xmlns:a16="http://schemas.microsoft.com/office/drawing/2014/main" id="{B6CB2029-039A-1C83-FD0A-BB35B4ED22E3}"/>
              </a:ext>
            </a:extLst>
          </p:cNvPr>
          <p:cNvPicPr>
            <a:picLocks noChangeAspect="1"/>
          </p:cNvPicPr>
          <p:nvPr/>
        </p:nvPicPr>
        <p:blipFill>
          <a:blip r:embed="rId2"/>
          <a:stretch>
            <a:fillRect/>
          </a:stretch>
        </p:blipFill>
        <p:spPr>
          <a:xfrm>
            <a:off x="3874278" y="3502688"/>
            <a:ext cx="4868506" cy="3304951"/>
          </a:xfrm>
          <a:prstGeom prst="rect">
            <a:avLst/>
          </a:prstGeom>
        </p:spPr>
      </p:pic>
      <p:sp>
        <p:nvSpPr>
          <p:cNvPr id="5" name="Rectangle 4">
            <a:extLst>
              <a:ext uri="{FF2B5EF4-FFF2-40B4-BE49-F238E27FC236}">
                <a16:creationId xmlns:a16="http://schemas.microsoft.com/office/drawing/2014/main" id="{D25F37F8-9288-9C46-301D-74BCBA9FC470}"/>
              </a:ext>
            </a:extLst>
          </p:cNvPr>
          <p:cNvSpPr/>
          <p:nvPr/>
        </p:nvSpPr>
        <p:spPr>
          <a:xfrm>
            <a:off x="3882572" y="3638939"/>
            <a:ext cx="4836365" cy="21771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6149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46D48-D05C-C392-6A69-93CBA74C01FB}"/>
              </a:ext>
            </a:extLst>
          </p:cNvPr>
          <p:cNvSpPr>
            <a:spLocks noGrp="1"/>
          </p:cNvSpPr>
          <p:nvPr>
            <p:ph type="title"/>
          </p:nvPr>
        </p:nvSpPr>
        <p:spPr>
          <a:solidFill>
            <a:schemeClr val="accent1">
              <a:lumMod val="40000"/>
              <a:lumOff val="60000"/>
            </a:schemeClr>
          </a:solidFill>
        </p:spPr>
        <p:txBody>
          <a:bodyPr/>
          <a:lstStyle/>
          <a:p>
            <a:r>
              <a:rPr lang="en-US" dirty="0">
                <a:cs typeface="Calibri Light"/>
              </a:rPr>
              <a:t>Leverage and Influential Points Cont.</a:t>
            </a:r>
            <a:endParaRPr lang="en-US" dirty="0"/>
          </a:p>
        </p:txBody>
      </p:sp>
      <p:sp>
        <p:nvSpPr>
          <p:cNvPr id="3" name="Content Placeholder 2">
            <a:extLst>
              <a:ext uri="{FF2B5EF4-FFF2-40B4-BE49-F238E27FC236}">
                <a16:creationId xmlns:a16="http://schemas.microsoft.com/office/drawing/2014/main" id="{4584AC5D-F4B0-FF3F-A920-CFB2B86FF256}"/>
              </a:ext>
            </a:extLst>
          </p:cNvPr>
          <p:cNvSpPr>
            <a:spLocks noGrp="1"/>
          </p:cNvSpPr>
          <p:nvPr>
            <p:ph idx="1"/>
          </p:nvPr>
        </p:nvSpPr>
        <p:spPr>
          <a:xfrm>
            <a:off x="838200" y="1825625"/>
            <a:ext cx="10515600" cy="1313706"/>
          </a:xfrm>
        </p:spPr>
        <p:txBody>
          <a:bodyPr vert="horz" lIns="91440" tIns="45720" rIns="91440" bIns="45720" rtlCol="0" anchor="t">
            <a:normAutofit/>
          </a:bodyPr>
          <a:lstStyle/>
          <a:p>
            <a:r>
              <a:rPr lang="en-US" sz="1800" dirty="0">
                <a:ea typeface="+mn-lt"/>
                <a:cs typeface="+mn-lt"/>
              </a:rPr>
              <a:t>Sorting by </a:t>
            </a:r>
            <a:r>
              <a:rPr lang="en-US" sz="1800" u="sng" dirty="0">
                <a:ea typeface="+mn-lt"/>
                <a:cs typeface="+mn-lt"/>
              </a:rPr>
              <a:t>COVRATIO</a:t>
            </a:r>
            <a:r>
              <a:rPr lang="en-US" sz="1800" dirty="0">
                <a:ea typeface="+mn-lt"/>
                <a:cs typeface="+mn-lt"/>
              </a:rPr>
              <a:t>, we see that we have exactly 3,900 values of our 4,500 over 1, </a:t>
            </a:r>
            <a:r>
              <a:rPr lang="en-US" sz="1800" u="sng" dirty="0">
                <a:ea typeface="+mn-lt"/>
                <a:cs typeface="+mn-lt"/>
              </a:rPr>
              <a:t>improving precision</a:t>
            </a:r>
            <a:r>
              <a:rPr lang="en-US" sz="1800" dirty="0">
                <a:ea typeface="+mn-lt"/>
                <a:cs typeface="+mn-lt"/>
              </a:rPr>
              <a:t> of the model, with the lowest being .926, which isn’t that far off from 1, but is still low enough that with 1-3*(9/4500) = .994, it and many others are considered influential. The highest COVRATIO by a good bit is, you guessed it, held by Dynamite by BTS.</a:t>
            </a:r>
          </a:p>
        </p:txBody>
      </p:sp>
      <p:pic>
        <p:nvPicPr>
          <p:cNvPr id="4" name="Picture 4">
            <a:extLst>
              <a:ext uri="{FF2B5EF4-FFF2-40B4-BE49-F238E27FC236}">
                <a16:creationId xmlns:a16="http://schemas.microsoft.com/office/drawing/2014/main" id="{B866B1C2-F967-1D99-C07C-FCA23284B261}"/>
              </a:ext>
            </a:extLst>
          </p:cNvPr>
          <p:cNvPicPr>
            <a:picLocks noChangeAspect="1"/>
          </p:cNvPicPr>
          <p:nvPr/>
        </p:nvPicPr>
        <p:blipFill>
          <a:blip r:embed="rId2"/>
          <a:stretch>
            <a:fillRect/>
          </a:stretch>
        </p:blipFill>
        <p:spPr>
          <a:xfrm>
            <a:off x="2174033" y="2878384"/>
            <a:ext cx="3614057" cy="3978172"/>
          </a:xfrm>
          <a:prstGeom prst="rect">
            <a:avLst/>
          </a:prstGeom>
        </p:spPr>
      </p:pic>
      <p:pic>
        <p:nvPicPr>
          <p:cNvPr id="5" name="Picture 5">
            <a:extLst>
              <a:ext uri="{FF2B5EF4-FFF2-40B4-BE49-F238E27FC236}">
                <a16:creationId xmlns:a16="http://schemas.microsoft.com/office/drawing/2014/main" id="{C7CD6373-8F5C-47F5-4582-89C572048AB3}"/>
              </a:ext>
            </a:extLst>
          </p:cNvPr>
          <p:cNvPicPr>
            <a:picLocks noChangeAspect="1"/>
          </p:cNvPicPr>
          <p:nvPr/>
        </p:nvPicPr>
        <p:blipFill>
          <a:blip r:embed="rId3"/>
          <a:stretch>
            <a:fillRect/>
          </a:stretch>
        </p:blipFill>
        <p:spPr>
          <a:xfrm>
            <a:off x="6300237" y="2880833"/>
            <a:ext cx="3608873" cy="3978457"/>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07ACF9C3-9AE8-E131-CAFA-9949931AA5D6}"/>
                  </a:ext>
                </a:extLst>
              </p14:cNvPr>
              <p14:cNvContentPartPr/>
              <p14:nvPr/>
            </p14:nvContentPartPr>
            <p14:xfrm>
              <a:off x="6063793" y="2857680"/>
              <a:ext cx="55101" cy="3994046"/>
            </p14:xfrm>
          </p:contentPart>
        </mc:Choice>
        <mc:Fallback xmlns="">
          <p:pic>
            <p:nvPicPr>
              <p:cNvPr id="7" name="Ink 6">
                <a:extLst>
                  <a:ext uri="{FF2B5EF4-FFF2-40B4-BE49-F238E27FC236}">
                    <a16:creationId xmlns:a16="http://schemas.microsoft.com/office/drawing/2014/main" id="{07ACF9C3-9AE8-E131-CAFA-9949931AA5D6}"/>
                  </a:ext>
                </a:extLst>
              </p:cNvPr>
              <p:cNvPicPr/>
              <p:nvPr/>
            </p:nvPicPr>
            <p:blipFill>
              <a:blip r:embed="rId5"/>
              <a:stretch>
                <a:fillRect/>
              </a:stretch>
            </p:blipFill>
            <p:spPr>
              <a:xfrm>
                <a:off x="6045903" y="2839682"/>
                <a:ext cx="90523" cy="4029681"/>
              </a:xfrm>
              <a:prstGeom prst="rect">
                <a:avLst/>
              </a:prstGeom>
            </p:spPr>
          </p:pic>
        </mc:Fallback>
      </mc:AlternateContent>
      <p:sp>
        <p:nvSpPr>
          <p:cNvPr id="6" name="TextBox 5">
            <a:extLst>
              <a:ext uri="{FF2B5EF4-FFF2-40B4-BE49-F238E27FC236}">
                <a16:creationId xmlns:a16="http://schemas.microsoft.com/office/drawing/2014/main" id="{03EA26D9-9D2F-4B4A-B392-0B91BEB16325}"/>
              </a:ext>
            </a:extLst>
          </p:cNvPr>
          <p:cNvSpPr txBox="1"/>
          <p:nvPr/>
        </p:nvSpPr>
        <p:spPr>
          <a:xfrm>
            <a:off x="203846" y="4309910"/>
            <a:ext cx="18443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Highest</a:t>
            </a:r>
            <a:endParaRPr lang="en-US" dirty="0"/>
          </a:p>
        </p:txBody>
      </p:sp>
      <p:sp>
        <p:nvSpPr>
          <p:cNvPr id="8" name="TextBox 7">
            <a:extLst>
              <a:ext uri="{FF2B5EF4-FFF2-40B4-BE49-F238E27FC236}">
                <a16:creationId xmlns:a16="http://schemas.microsoft.com/office/drawing/2014/main" id="{DBE68597-00A9-9A23-ED0E-7E675C688180}"/>
              </a:ext>
            </a:extLst>
          </p:cNvPr>
          <p:cNvSpPr txBox="1"/>
          <p:nvPr/>
        </p:nvSpPr>
        <p:spPr>
          <a:xfrm>
            <a:off x="10590344" y="4353592"/>
            <a:ext cx="14560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Lowest</a:t>
            </a:r>
          </a:p>
          <a:p>
            <a:pPr algn="l"/>
            <a:endParaRPr lang="en-US" dirty="0">
              <a:ea typeface="Calibri"/>
              <a:cs typeface="Calibri"/>
            </a:endParaRPr>
          </a:p>
        </p:txBody>
      </p:sp>
    </p:spTree>
    <p:extLst>
      <p:ext uri="{BB962C8B-B14F-4D97-AF65-F5344CB8AC3E}">
        <p14:creationId xmlns:p14="http://schemas.microsoft.com/office/powerpoint/2010/main" val="57647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CC8F-B4DF-A9DB-29AB-BFB057AEE32C}"/>
              </a:ext>
            </a:extLst>
          </p:cNvPr>
          <p:cNvSpPr>
            <a:spLocks noGrp="1"/>
          </p:cNvSpPr>
          <p:nvPr>
            <p:ph type="title"/>
          </p:nvPr>
        </p:nvSpPr>
        <p:spPr>
          <a:solidFill>
            <a:schemeClr val="accent1">
              <a:lumMod val="40000"/>
              <a:lumOff val="60000"/>
            </a:schemeClr>
          </a:solidFill>
        </p:spPr>
        <p:txBody>
          <a:bodyPr/>
          <a:lstStyle/>
          <a:p>
            <a:r>
              <a:rPr lang="en-US" dirty="0">
                <a:cs typeface="Calibri Light"/>
              </a:rPr>
              <a:t>Leverage and Influential Points Cont.</a:t>
            </a:r>
            <a:endParaRPr lang="en-US" dirty="0"/>
          </a:p>
        </p:txBody>
      </p:sp>
      <p:sp>
        <p:nvSpPr>
          <p:cNvPr id="3" name="Content Placeholder 2">
            <a:extLst>
              <a:ext uri="{FF2B5EF4-FFF2-40B4-BE49-F238E27FC236}">
                <a16:creationId xmlns:a16="http://schemas.microsoft.com/office/drawing/2014/main" id="{F036AAD0-8E51-1611-1695-3230215F3063}"/>
              </a:ext>
            </a:extLst>
          </p:cNvPr>
          <p:cNvSpPr>
            <a:spLocks noGrp="1"/>
          </p:cNvSpPr>
          <p:nvPr>
            <p:ph idx="1"/>
          </p:nvPr>
        </p:nvSpPr>
        <p:spPr>
          <a:xfrm>
            <a:off x="838200" y="1825625"/>
            <a:ext cx="10515600" cy="919747"/>
          </a:xfrm>
        </p:spPr>
        <p:txBody>
          <a:bodyPr vert="horz" lIns="91440" tIns="45720" rIns="91440" bIns="45720" rtlCol="0" anchor="t">
            <a:normAutofit/>
          </a:bodyPr>
          <a:lstStyle/>
          <a:p>
            <a:r>
              <a:rPr lang="en-US" sz="2000" dirty="0">
                <a:ea typeface="+mn-lt"/>
                <a:cs typeface="+mn-lt"/>
              </a:rPr>
              <a:t>Finally, looking at DFFITS values, using a cutoff of 2*sqrt(9/4500) = .0894, we have 155 observations that are influential on the fitted values, with the highest by far being Dynamite by BTS again.</a:t>
            </a:r>
          </a:p>
        </p:txBody>
      </p:sp>
      <p:pic>
        <p:nvPicPr>
          <p:cNvPr id="5" name="Picture 5">
            <a:extLst>
              <a:ext uri="{FF2B5EF4-FFF2-40B4-BE49-F238E27FC236}">
                <a16:creationId xmlns:a16="http://schemas.microsoft.com/office/drawing/2014/main" id="{920FA85B-469D-84DA-6C18-91AFA9AD430F}"/>
              </a:ext>
            </a:extLst>
          </p:cNvPr>
          <p:cNvPicPr>
            <a:picLocks noChangeAspect="1"/>
          </p:cNvPicPr>
          <p:nvPr/>
        </p:nvPicPr>
        <p:blipFill>
          <a:blip r:embed="rId2"/>
          <a:stretch>
            <a:fillRect/>
          </a:stretch>
        </p:blipFill>
        <p:spPr>
          <a:xfrm>
            <a:off x="3946849" y="2567294"/>
            <a:ext cx="4298302" cy="4289329"/>
          </a:xfrm>
          <a:prstGeom prst="rect">
            <a:avLst/>
          </a:prstGeom>
        </p:spPr>
      </p:pic>
    </p:spTree>
    <p:extLst>
      <p:ext uri="{BB962C8B-B14F-4D97-AF65-F5344CB8AC3E}">
        <p14:creationId xmlns:p14="http://schemas.microsoft.com/office/powerpoint/2010/main" val="2583448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82EA-6E26-0183-639B-CF6DDAF4F1A3}"/>
              </a:ext>
            </a:extLst>
          </p:cNvPr>
          <p:cNvSpPr>
            <a:spLocks noGrp="1"/>
          </p:cNvSpPr>
          <p:nvPr>
            <p:ph type="title"/>
          </p:nvPr>
        </p:nvSpPr>
        <p:spPr>
          <a:solidFill>
            <a:schemeClr val="accent1">
              <a:lumMod val="40000"/>
              <a:lumOff val="60000"/>
            </a:schemeClr>
          </a:solidFill>
        </p:spPr>
        <p:txBody>
          <a:bodyPr/>
          <a:lstStyle/>
          <a:p>
            <a:r>
              <a:rPr lang="en-US" dirty="0">
                <a:cs typeface="Calibri Light"/>
              </a:rPr>
              <a:t>Predictive Capability of our Model</a:t>
            </a:r>
            <a:endParaRPr lang="en-US" dirty="0"/>
          </a:p>
        </p:txBody>
      </p:sp>
      <p:sp>
        <p:nvSpPr>
          <p:cNvPr id="3" name="Content Placeholder 2">
            <a:extLst>
              <a:ext uri="{FF2B5EF4-FFF2-40B4-BE49-F238E27FC236}">
                <a16:creationId xmlns:a16="http://schemas.microsoft.com/office/drawing/2014/main" id="{F3DD7BE4-486E-2BD1-66DD-563CC2E224BC}"/>
              </a:ext>
            </a:extLst>
          </p:cNvPr>
          <p:cNvSpPr>
            <a:spLocks noGrp="1"/>
          </p:cNvSpPr>
          <p:nvPr>
            <p:ph idx="1"/>
          </p:nvPr>
        </p:nvSpPr>
        <p:spPr>
          <a:xfrm>
            <a:off x="838200" y="1825625"/>
            <a:ext cx="10515600" cy="3532318"/>
          </a:xfrm>
        </p:spPr>
        <p:txBody>
          <a:bodyPr vert="horz" lIns="91440" tIns="45720" rIns="91440" bIns="45720" rtlCol="0" anchor="t">
            <a:normAutofit/>
          </a:bodyPr>
          <a:lstStyle/>
          <a:p>
            <a:r>
              <a:rPr lang="en-US" sz="2000" dirty="0">
                <a:cs typeface="Calibri"/>
              </a:rPr>
              <a:t>For the purpose of this model, if we wanted to make a popular song, we would look at our </a:t>
            </a:r>
          </a:p>
          <a:p>
            <a:pPr marL="0" indent="0">
              <a:buNone/>
            </a:pPr>
            <a:endParaRPr lang="en-US" sz="2000" dirty="0">
              <a:cs typeface="Calibri"/>
            </a:endParaRPr>
          </a:p>
          <a:p>
            <a:pPr marL="0" indent="0">
              <a:buNone/>
            </a:pPr>
            <a:r>
              <a:rPr lang="en-US" sz="2000" b="1" dirty="0">
                <a:cs typeface="Calibri"/>
              </a:rPr>
              <a:t>PRESS</a:t>
            </a:r>
            <a:r>
              <a:rPr lang="en-US" sz="2000" dirty="0">
                <a:cs typeface="Calibri"/>
              </a:rPr>
              <a:t> statistic of: </a:t>
            </a:r>
            <a:r>
              <a:rPr lang="en-US" sz="2000" dirty="0">
                <a:ea typeface="+mn-lt"/>
                <a:cs typeface="+mn-lt"/>
              </a:rPr>
              <a:t>659,179,770,000,000,000,000</a:t>
            </a:r>
            <a:endParaRPr lang="en-US" dirty="0"/>
          </a:p>
          <a:p>
            <a:pPr marL="0" indent="0">
              <a:buNone/>
            </a:pPr>
            <a:r>
              <a:rPr lang="en-US" sz="2000" dirty="0">
                <a:ea typeface="+mn-lt"/>
                <a:cs typeface="+mn-lt"/>
              </a:rPr>
              <a:t>And our </a:t>
            </a:r>
            <a:r>
              <a:rPr lang="en-US" sz="2000" b="1" dirty="0" err="1">
                <a:ea typeface="+mn-lt"/>
                <a:cs typeface="+mn-lt"/>
              </a:rPr>
              <a:t>SS</a:t>
            </a:r>
            <a:r>
              <a:rPr lang="en-US" sz="2000" b="1" baseline="-25000" dirty="0" err="1">
                <a:ea typeface="+mn-lt"/>
                <a:cs typeface="+mn-lt"/>
              </a:rPr>
              <a:t>t</a:t>
            </a:r>
            <a:r>
              <a:rPr lang="en-US" sz="2000" dirty="0">
                <a:ea typeface="+mn-lt"/>
                <a:cs typeface="+mn-lt"/>
              </a:rPr>
              <a:t> value of: 2,532,959,000,000,000,000,000</a:t>
            </a:r>
          </a:p>
          <a:p>
            <a:pPr marL="0" indent="0">
              <a:buNone/>
            </a:pPr>
            <a:endParaRPr lang="en-US" sz="2000" dirty="0">
              <a:ea typeface="+mn-lt"/>
              <a:cs typeface="+mn-lt"/>
            </a:endParaRPr>
          </a:p>
          <a:p>
            <a:pPr marL="0" indent="0">
              <a:buNone/>
            </a:pPr>
            <a:r>
              <a:rPr lang="en-US" sz="2000" dirty="0">
                <a:ea typeface="+mn-lt"/>
                <a:cs typeface="+mn-lt"/>
              </a:rPr>
              <a:t>We can obtain a </a:t>
            </a:r>
            <a:r>
              <a:rPr lang="en-US" sz="2000" b="1" dirty="0">
                <a:ea typeface="+mn-lt"/>
                <a:cs typeface="+mn-lt"/>
              </a:rPr>
              <a:t>R</a:t>
            </a:r>
            <a:r>
              <a:rPr lang="en-US" sz="2000" b="1" baseline="30000" dirty="0">
                <a:ea typeface="+mn-lt"/>
                <a:cs typeface="+mn-lt"/>
              </a:rPr>
              <a:t>2</a:t>
            </a:r>
            <a:r>
              <a:rPr lang="en-US" sz="2000" b="1" baseline="-25000" dirty="0">
                <a:ea typeface="+mn-lt"/>
                <a:cs typeface="+mn-lt"/>
              </a:rPr>
              <a:t>prediction</a:t>
            </a:r>
            <a:r>
              <a:rPr lang="en-US" sz="2000" dirty="0">
                <a:ea typeface="+mn-lt"/>
                <a:cs typeface="+mn-lt"/>
              </a:rPr>
              <a:t> value of: 1 - ( PRESS /  SS</a:t>
            </a:r>
            <a:r>
              <a:rPr lang="en-US" sz="2000" baseline="-25000" dirty="0">
                <a:ea typeface="+mn-lt"/>
                <a:cs typeface="+mn-lt"/>
              </a:rPr>
              <a:t>T </a:t>
            </a:r>
            <a:r>
              <a:rPr lang="en-US" sz="2000" dirty="0">
                <a:ea typeface="+mn-lt"/>
                <a:cs typeface="+mn-lt"/>
              </a:rPr>
              <a:t>) = </a:t>
            </a:r>
            <a:r>
              <a:rPr lang="en-US" sz="2000" b="1" dirty="0">
                <a:ea typeface="+mn-lt"/>
                <a:cs typeface="+mn-lt"/>
              </a:rPr>
              <a:t>.7398</a:t>
            </a:r>
          </a:p>
          <a:p>
            <a:pPr marL="0" indent="0">
              <a:buNone/>
            </a:pPr>
            <a:endParaRPr lang="en-US" sz="2000" dirty="0">
              <a:ea typeface="+mn-lt"/>
              <a:cs typeface="+mn-lt"/>
            </a:endParaRPr>
          </a:p>
          <a:p>
            <a:pPr marL="0" indent="0">
              <a:buNone/>
            </a:pPr>
            <a:r>
              <a:rPr lang="en-US" sz="2000" dirty="0">
                <a:ea typeface="+mn-lt"/>
                <a:cs typeface="+mn-lt"/>
              </a:rPr>
              <a:t>This means that our model accounts for around 73.98% of the variability in predicting new observations, which is not too shabby.</a:t>
            </a:r>
          </a:p>
        </p:txBody>
      </p:sp>
      <p:pic>
        <p:nvPicPr>
          <p:cNvPr id="4" name="Picture 4" descr="Graphical user interface, website&#10;&#10;Description automatically generated">
            <a:extLst>
              <a:ext uri="{FF2B5EF4-FFF2-40B4-BE49-F238E27FC236}">
                <a16:creationId xmlns:a16="http://schemas.microsoft.com/office/drawing/2014/main" id="{06556BB8-46AF-E8B2-C826-B99F6098570F}"/>
              </a:ext>
            </a:extLst>
          </p:cNvPr>
          <p:cNvPicPr>
            <a:picLocks noChangeAspect="1"/>
          </p:cNvPicPr>
          <p:nvPr/>
        </p:nvPicPr>
        <p:blipFill>
          <a:blip r:embed="rId2"/>
          <a:stretch>
            <a:fillRect/>
          </a:stretch>
        </p:blipFill>
        <p:spPr>
          <a:xfrm>
            <a:off x="1199502" y="5829323"/>
            <a:ext cx="9424955" cy="662948"/>
          </a:xfrm>
          <a:prstGeom prst="rect">
            <a:avLst/>
          </a:prstGeom>
        </p:spPr>
      </p:pic>
    </p:spTree>
    <p:extLst>
      <p:ext uri="{BB962C8B-B14F-4D97-AF65-F5344CB8AC3E}">
        <p14:creationId xmlns:p14="http://schemas.microsoft.com/office/powerpoint/2010/main" val="2893142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E84F3-2D5D-4F5D-0442-733B3794BF6F}"/>
              </a:ext>
            </a:extLst>
          </p:cNvPr>
          <p:cNvSpPr>
            <a:spLocks noGrp="1"/>
          </p:cNvSpPr>
          <p:nvPr>
            <p:ph type="title"/>
          </p:nvPr>
        </p:nvSpPr>
        <p:spPr>
          <a:solidFill>
            <a:schemeClr val="accent1">
              <a:lumMod val="40000"/>
              <a:lumOff val="60000"/>
            </a:schemeClr>
          </a:solidFill>
        </p:spPr>
        <p:txBody>
          <a:bodyPr/>
          <a:lstStyle/>
          <a:p>
            <a:r>
              <a:rPr lang="en-US" dirty="0">
                <a:cs typeface="Calibri Light"/>
              </a:rPr>
              <a:t>Conclusions:</a:t>
            </a:r>
            <a:endParaRPr lang="en-US" dirty="0"/>
          </a:p>
        </p:txBody>
      </p:sp>
      <p:sp>
        <p:nvSpPr>
          <p:cNvPr id="3" name="Content Placeholder 2">
            <a:extLst>
              <a:ext uri="{FF2B5EF4-FFF2-40B4-BE49-F238E27FC236}">
                <a16:creationId xmlns:a16="http://schemas.microsoft.com/office/drawing/2014/main" id="{89CC1AD5-B16A-416B-5317-C92B40DDDFAE}"/>
              </a:ext>
            </a:extLst>
          </p:cNvPr>
          <p:cNvSpPr>
            <a:spLocks noGrp="1"/>
          </p:cNvSpPr>
          <p:nvPr>
            <p:ph idx="1"/>
          </p:nvPr>
        </p:nvSpPr>
        <p:spPr/>
        <p:txBody>
          <a:bodyPr vert="horz" lIns="91440" tIns="45720" rIns="91440" bIns="45720" rtlCol="0" anchor="t">
            <a:normAutofit/>
          </a:bodyPr>
          <a:lstStyle/>
          <a:p>
            <a:r>
              <a:rPr lang="en-US" sz="2400" dirty="0">
                <a:ea typeface="+mn-lt"/>
                <a:cs typeface="+mn-lt"/>
              </a:rPr>
              <a:t>It is safe to say that likes and comments account for the most listens for a song. </a:t>
            </a:r>
            <a:endParaRPr lang="en-US" sz="2400">
              <a:cs typeface="Calibri"/>
            </a:endParaRPr>
          </a:p>
          <a:p>
            <a:r>
              <a:rPr lang="en-US" sz="2400" dirty="0">
                <a:ea typeface="+mn-lt"/>
                <a:cs typeface="+mn-lt"/>
              </a:rPr>
              <a:t>The more people who hear it and like it, the more it will snowball. If you want to make a smash hit, just imitate BTS. </a:t>
            </a:r>
          </a:p>
          <a:p>
            <a:r>
              <a:rPr lang="en-US" sz="2400" dirty="0">
                <a:ea typeface="+mn-lt"/>
                <a:cs typeface="+mn-lt"/>
              </a:rPr>
              <a:t>In general, you probably want your song to have more music than vocals. </a:t>
            </a:r>
          </a:p>
          <a:p>
            <a:r>
              <a:rPr lang="en-US" sz="2400" dirty="0">
                <a:ea typeface="+mn-lt"/>
                <a:cs typeface="+mn-lt"/>
              </a:rPr>
              <a:t>Through our elimination techniques we found that we got rid of seconds or how long a song is. The fact that this variable was deemed insignificant is interesting since songs range from 30 seconds to 9 minutes or some crazy range like that. </a:t>
            </a:r>
          </a:p>
          <a:p>
            <a:r>
              <a:rPr lang="en-US" sz="2400" dirty="0">
                <a:ea typeface="+mn-lt"/>
                <a:cs typeface="+mn-lt"/>
              </a:rPr>
              <a:t>Make your song energetic and danceable with high positivity, and you, my friend, have a song that people will listen to.</a:t>
            </a:r>
            <a:endParaRPr lang="en-US" sz="2400" dirty="0">
              <a:cs typeface="Calibri"/>
            </a:endParaRPr>
          </a:p>
        </p:txBody>
      </p:sp>
    </p:spTree>
    <p:extLst>
      <p:ext uri="{BB962C8B-B14F-4D97-AF65-F5344CB8AC3E}">
        <p14:creationId xmlns:p14="http://schemas.microsoft.com/office/powerpoint/2010/main" val="3912440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6D255-CA38-B720-AC00-9A1C3ABC0489}"/>
              </a:ext>
            </a:extLst>
          </p:cNvPr>
          <p:cNvSpPr>
            <a:spLocks noGrp="1"/>
          </p:cNvSpPr>
          <p:nvPr>
            <p:ph type="title"/>
          </p:nvPr>
        </p:nvSpPr>
        <p:spPr>
          <a:xfrm>
            <a:off x="838200" y="365125"/>
            <a:ext cx="2332594" cy="1340123"/>
          </a:xfrm>
          <a:solidFill>
            <a:schemeClr val="accent1">
              <a:lumMod val="40000"/>
              <a:lumOff val="60000"/>
            </a:schemeClr>
          </a:solidFill>
        </p:spPr>
        <p:txBody>
          <a:bodyPr/>
          <a:lstStyle/>
          <a:p>
            <a:r>
              <a:rPr lang="en-US" dirty="0">
                <a:cs typeface="Calibri Light"/>
              </a:rPr>
              <a:t>Code:</a:t>
            </a:r>
            <a:endParaRPr lang="en-US" dirty="0"/>
          </a:p>
        </p:txBody>
      </p:sp>
      <p:sp>
        <p:nvSpPr>
          <p:cNvPr id="3" name="Content Placeholder 2">
            <a:extLst>
              <a:ext uri="{FF2B5EF4-FFF2-40B4-BE49-F238E27FC236}">
                <a16:creationId xmlns:a16="http://schemas.microsoft.com/office/drawing/2014/main" id="{C3A3F1B5-39D4-ABEF-D652-D7F9368A02FE}"/>
              </a:ext>
            </a:extLst>
          </p:cNvPr>
          <p:cNvSpPr>
            <a:spLocks noGrp="1"/>
          </p:cNvSpPr>
          <p:nvPr>
            <p:ph idx="1"/>
          </p:nvPr>
        </p:nvSpPr>
        <p:spPr>
          <a:xfrm>
            <a:off x="29547" y="1825625"/>
            <a:ext cx="4544009" cy="5025214"/>
          </a:xfrm>
        </p:spPr>
        <p:txBody>
          <a:bodyPr vert="horz" lIns="91440" tIns="45720" rIns="91440" bIns="45720" rtlCol="0" anchor="t">
            <a:normAutofit fontScale="92500" lnSpcReduction="10000"/>
          </a:bodyPr>
          <a:lstStyle/>
          <a:p>
            <a:pPr marL="0" indent="0">
              <a:buNone/>
            </a:pPr>
            <a:r>
              <a:rPr lang="en-US" sz="1100" dirty="0" err="1">
                <a:ea typeface="+mn-lt"/>
                <a:cs typeface="+mn-lt"/>
              </a:rPr>
              <a:t>libname</a:t>
            </a:r>
            <a:r>
              <a:rPr lang="en-US" sz="1100" dirty="0">
                <a:ea typeface="+mn-lt"/>
                <a:cs typeface="+mn-lt"/>
              </a:rPr>
              <a:t> final450 "M:\</a:t>
            </a:r>
            <a:r>
              <a:rPr lang="en-US" sz="1100" dirty="0" err="1">
                <a:ea typeface="+mn-lt"/>
                <a:cs typeface="+mn-lt"/>
              </a:rPr>
              <a:t>My_Private_Files</a:t>
            </a:r>
            <a:r>
              <a:rPr lang="en-US" sz="1100" dirty="0">
                <a:ea typeface="+mn-lt"/>
                <a:cs typeface="+mn-lt"/>
              </a:rPr>
              <a:t>\stat450\final";</a:t>
            </a:r>
            <a:endParaRPr lang="en-US"/>
          </a:p>
          <a:p>
            <a:endParaRPr lang="en-US" sz="1100">
              <a:ea typeface="+mn-lt"/>
              <a:cs typeface="+mn-lt"/>
            </a:endParaRPr>
          </a:p>
          <a:p>
            <a:pPr marL="0" indent="0">
              <a:buNone/>
            </a:pPr>
            <a:r>
              <a:rPr lang="en-US" sz="1100" dirty="0">
                <a:ea typeface="+mn-lt"/>
                <a:cs typeface="+mn-lt"/>
              </a:rPr>
              <a:t>options </a:t>
            </a:r>
            <a:r>
              <a:rPr lang="en-US" sz="1100" dirty="0" err="1">
                <a:ea typeface="+mn-lt"/>
                <a:cs typeface="+mn-lt"/>
              </a:rPr>
              <a:t>validvarname</a:t>
            </a:r>
            <a:r>
              <a:rPr lang="en-US" sz="1100" dirty="0">
                <a:ea typeface="+mn-lt"/>
                <a:cs typeface="+mn-lt"/>
              </a:rPr>
              <a:t>=v7;</a:t>
            </a:r>
          </a:p>
          <a:p>
            <a:pPr marL="0" indent="0">
              <a:buNone/>
            </a:pPr>
            <a:r>
              <a:rPr lang="en-US" sz="1100" dirty="0">
                <a:ea typeface="+mn-lt"/>
                <a:cs typeface="+mn-lt"/>
              </a:rPr>
              <a:t>proc import datafile="M:\</a:t>
            </a:r>
            <a:r>
              <a:rPr lang="en-US" sz="1100" dirty="0" err="1">
                <a:ea typeface="+mn-lt"/>
                <a:cs typeface="+mn-lt"/>
              </a:rPr>
              <a:t>My_Private_Files</a:t>
            </a:r>
            <a:r>
              <a:rPr lang="en-US" sz="1100" dirty="0">
                <a:ea typeface="+mn-lt"/>
                <a:cs typeface="+mn-lt"/>
              </a:rPr>
              <a:t>\stat450\final\Spotify_Youtube.xlsx"</a:t>
            </a:r>
          </a:p>
          <a:p>
            <a:pPr marL="0" indent="0">
              <a:buNone/>
            </a:pPr>
            <a:r>
              <a:rPr lang="en-US" sz="1100" dirty="0">
                <a:ea typeface="+mn-lt"/>
                <a:cs typeface="+mn-lt"/>
              </a:rPr>
              <a:t>out=final450.songs replace</a:t>
            </a:r>
          </a:p>
          <a:p>
            <a:pPr marL="0" indent="0">
              <a:buNone/>
            </a:pPr>
            <a:r>
              <a:rPr lang="en-US" sz="1100" dirty="0" err="1">
                <a:ea typeface="+mn-lt"/>
                <a:cs typeface="+mn-lt"/>
              </a:rPr>
              <a:t>dbms</a:t>
            </a:r>
            <a:r>
              <a:rPr lang="en-US" sz="1100" dirty="0">
                <a:ea typeface="+mn-lt"/>
                <a:cs typeface="+mn-lt"/>
              </a:rPr>
              <a:t>=xlsx;</a:t>
            </a:r>
          </a:p>
          <a:p>
            <a:pPr marL="0" indent="0">
              <a:buNone/>
            </a:pPr>
            <a:r>
              <a:rPr lang="en-US" sz="1100" dirty="0">
                <a:ea typeface="+mn-lt"/>
                <a:cs typeface="+mn-lt"/>
              </a:rPr>
              <a:t>run;</a:t>
            </a:r>
          </a:p>
          <a:p>
            <a:endParaRPr lang="en-US" sz="1100">
              <a:ea typeface="+mn-lt"/>
              <a:cs typeface="+mn-lt"/>
            </a:endParaRPr>
          </a:p>
          <a:p>
            <a:pPr marL="0" indent="0">
              <a:buNone/>
            </a:pPr>
            <a:r>
              <a:rPr lang="en-US" sz="1100" dirty="0">
                <a:ea typeface="+mn-lt"/>
                <a:cs typeface="+mn-lt"/>
              </a:rPr>
              <a:t>proc print data=final450.songs (</a:t>
            </a:r>
            <a:r>
              <a:rPr lang="en-US" sz="1100" dirty="0" err="1">
                <a:ea typeface="+mn-lt"/>
                <a:cs typeface="+mn-lt"/>
              </a:rPr>
              <a:t>obs</a:t>
            </a:r>
            <a:r>
              <a:rPr lang="en-US" sz="1100" dirty="0">
                <a:ea typeface="+mn-lt"/>
                <a:cs typeface="+mn-lt"/>
              </a:rPr>
              <a:t>=10);</a:t>
            </a:r>
          </a:p>
          <a:p>
            <a:pPr marL="0" indent="0">
              <a:buNone/>
            </a:pPr>
            <a:r>
              <a:rPr lang="en-US" sz="1100" dirty="0">
                <a:ea typeface="+mn-lt"/>
                <a:cs typeface="+mn-lt"/>
              </a:rPr>
              <a:t>run;</a:t>
            </a:r>
          </a:p>
          <a:p>
            <a:endParaRPr lang="en-US" sz="1100">
              <a:ea typeface="+mn-lt"/>
              <a:cs typeface="+mn-lt"/>
            </a:endParaRPr>
          </a:p>
          <a:p>
            <a:pPr marL="0" indent="0">
              <a:buNone/>
            </a:pPr>
            <a:r>
              <a:rPr lang="en-US" sz="1100" dirty="0">
                <a:ea typeface="+mn-lt"/>
                <a:cs typeface="+mn-lt"/>
              </a:rPr>
              <a:t>proc contents data=final450.songs;</a:t>
            </a:r>
          </a:p>
          <a:p>
            <a:pPr marL="0" indent="0">
              <a:buNone/>
            </a:pPr>
            <a:r>
              <a:rPr lang="en-US" sz="1100" dirty="0">
                <a:ea typeface="+mn-lt"/>
                <a:cs typeface="+mn-lt"/>
              </a:rPr>
              <a:t>run;</a:t>
            </a:r>
          </a:p>
          <a:p>
            <a:endParaRPr lang="en-US" sz="1100">
              <a:ea typeface="+mn-lt"/>
              <a:cs typeface="+mn-lt"/>
            </a:endParaRPr>
          </a:p>
          <a:p>
            <a:pPr marL="0" indent="0">
              <a:buNone/>
            </a:pPr>
            <a:r>
              <a:rPr lang="en-US" sz="1100" dirty="0">
                <a:ea typeface="+mn-lt"/>
                <a:cs typeface="+mn-lt"/>
              </a:rPr>
              <a:t>proc means data=final450.songs;</a:t>
            </a:r>
          </a:p>
          <a:p>
            <a:pPr marL="0" indent="0">
              <a:buNone/>
            </a:pPr>
            <a:r>
              <a:rPr lang="en-US" sz="1100" dirty="0">
                <a:ea typeface="+mn-lt"/>
                <a:cs typeface="+mn-lt"/>
              </a:rPr>
              <a:t>run;</a:t>
            </a:r>
          </a:p>
          <a:p>
            <a:endParaRPr lang="en-US" sz="1100">
              <a:ea typeface="+mn-lt"/>
              <a:cs typeface="+mn-lt"/>
            </a:endParaRPr>
          </a:p>
          <a:p>
            <a:pPr marL="0" indent="0">
              <a:buNone/>
            </a:pPr>
            <a:r>
              <a:rPr lang="en-US" sz="1100" dirty="0">
                <a:ea typeface="+mn-lt"/>
                <a:cs typeface="+mn-lt"/>
              </a:rPr>
              <a:t>proc </a:t>
            </a:r>
            <a:r>
              <a:rPr lang="en-US" sz="1100" dirty="0" err="1">
                <a:ea typeface="+mn-lt"/>
                <a:cs typeface="+mn-lt"/>
              </a:rPr>
              <a:t>freq</a:t>
            </a:r>
            <a:r>
              <a:rPr lang="en-US" sz="1100" dirty="0">
                <a:ea typeface="+mn-lt"/>
                <a:cs typeface="+mn-lt"/>
              </a:rPr>
              <a:t> data=final450.songs;</a:t>
            </a:r>
          </a:p>
          <a:p>
            <a:pPr marL="0" indent="0">
              <a:buNone/>
            </a:pPr>
            <a:r>
              <a:rPr lang="en-US" sz="1100" dirty="0">
                <a:ea typeface="+mn-lt"/>
                <a:cs typeface="+mn-lt"/>
              </a:rPr>
              <a:t>tables Artist Key / </a:t>
            </a:r>
            <a:r>
              <a:rPr lang="en-US" sz="1100" dirty="0" err="1">
                <a:ea typeface="+mn-lt"/>
                <a:cs typeface="+mn-lt"/>
              </a:rPr>
              <a:t>nocum</a:t>
            </a:r>
            <a:r>
              <a:rPr lang="en-US" sz="1100" dirty="0">
                <a:ea typeface="+mn-lt"/>
                <a:cs typeface="+mn-lt"/>
              </a:rPr>
              <a:t>;</a:t>
            </a:r>
          </a:p>
          <a:p>
            <a:pPr marL="0" indent="0">
              <a:buNone/>
            </a:pPr>
            <a:r>
              <a:rPr lang="en-US" sz="1100" dirty="0">
                <a:ea typeface="+mn-lt"/>
                <a:cs typeface="+mn-lt"/>
              </a:rPr>
              <a:t>run;</a:t>
            </a:r>
          </a:p>
          <a:p>
            <a:endParaRPr lang="en-US" dirty="0">
              <a:cs typeface="Calibri"/>
            </a:endParaRPr>
          </a:p>
        </p:txBody>
      </p:sp>
      <p:sp>
        <p:nvSpPr>
          <p:cNvPr id="4" name="TextBox 3">
            <a:extLst>
              <a:ext uri="{FF2B5EF4-FFF2-40B4-BE49-F238E27FC236}">
                <a16:creationId xmlns:a16="http://schemas.microsoft.com/office/drawing/2014/main" id="{7DB2A510-7F82-2BD2-087A-1D46E09F9A8E}"/>
              </a:ext>
            </a:extLst>
          </p:cNvPr>
          <p:cNvSpPr txBox="1"/>
          <p:nvPr/>
        </p:nvSpPr>
        <p:spPr>
          <a:xfrm>
            <a:off x="4571999" y="362857"/>
            <a:ext cx="3213877" cy="69711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ea typeface="+mn-lt"/>
                <a:cs typeface="+mn-lt"/>
              </a:rPr>
              <a:t>proc reg data=final450.songs;</a:t>
            </a:r>
          </a:p>
          <a:p>
            <a:r>
              <a:rPr lang="en-US" sz="1100" dirty="0">
                <a:ea typeface="+mn-lt"/>
                <a:cs typeface="+mn-lt"/>
              </a:rPr>
              <a:t>model </a:t>
            </a:r>
            <a:r>
              <a:rPr lang="en-US" sz="1100" dirty="0" err="1">
                <a:ea typeface="+mn-lt"/>
                <a:cs typeface="+mn-lt"/>
              </a:rPr>
              <a:t>Total_Listens</a:t>
            </a:r>
            <a:r>
              <a:rPr lang="en-US" sz="1100" dirty="0">
                <a:ea typeface="+mn-lt"/>
                <a:cs typeface="+mn-lt"/>
              </a:rPr>
              <a:t> = Danceability Energy </a:t>
            </a:r>
            <a:r>
              <a:rPr lang="en-US" sz="1100" dirty="0" err="1">
                <a:ea typeface="+mn-lt"/>
                <a:cs typeface="+mn-lt"/>
              </a:rPr>
              <a:t>Speechiness</a:t>
            </a:r>
            <a:r>
              <a:rPr lang="en-US" sz="1100" dirty="0">
                <a:ea typeface="+mn-lt"/>
                <a:cs typeface="+mn-lt"/>
              </a:rPr>
              <a:t> </a:t>
            </a:r>
            <a:r>
              <a:rPr lang="en-US" sz="1100" dirty="0" err="1">
                <a:ea typeface="+mn-lt"/>
                <a:cs typeface="+mn-lt"/>
              </a:rPr>
              <a:t>Acousticness</a:t>
            </a:r>
            <a:r>
              <a:rPr lang="en-US" sz="1100" dirty="0">
                <a:ea typeface="+mn-lt"/>
                <a:cs typeface="+mn-lt"/>
              </a:rPr>
              <a:t> </a:t>
            </a:r>
            <a:r>
              <a:rPr lang="en-US" sz="1100" dirty="0" err="1">
                <a:ea typeface="+mn-lt"/>
                <a:cs typeface="+mn-lt"/>
              </a:rPr>
              <a:t>Instrumentalness</a:t>
            </a:r>
            <a:r>
              <a:rPr lang="en-US" sz="1100" dirty="0">
                <a:ea typeface="+mn-lt"/>
                <a:cs typeface="+mn-lt"/>
              </a:rPr>
              <a:t> Liveness Valence Key Loudness Tempo Seconds Likes Comments/</a:t>
            </a:r>
            <a:r>
              <a:rPr lang="en-US" sz="1100" dirty="0" err="1">
                <a:ea typeface="+mn-lt"/>
                <a:cs typeface="+mn-lt"/>
              </a:rPr>
              <a:t>vif</a:t>
            </a:r>
            <a:r>
              <a:rPr lang="en-US" sz="1100" dirty="0">
                <a:ea typeface="+mn-lt"/>
                <a:cs typeface="+mn-lt"/>
              </a:rPr>
              <a:t> </a:t>
            </a:r>
            <a:r>
              <a:rPr lang="en-US" sz="1100" dirty="0" err="1">
                <a:ea typeface="+mn-lt"/>
                <a:cs typeface="+mn-lt"/>
              </a:rPr>
              <a:t>clb</a:t>
            </a:r>
            <a:r>
              <a:rPr lang="en-US" sz="1100" dirty="0">
                <a:ea typeface="+mn-lt"/>
                <a:cs typeface="+mn-lt"/>
              </a:rPr>
              <a:t>;</a:t>
            </a:r>
          </a:p>
          <a:p>
            <a:r>
              <a:rPr lang="en-US" sz="1100" dirty="0">
                <a:ea typeface="+mn-lt"/>
                <a:cs typeface="+mn-lt"/>
              </a:rPr>
              <a:t>run;</a:t>
            </a:r>
          </a:p>
          <a:p>
            <a:endParaRPr lang="en-US" sz="1100">
              <a:ea typeface="+mn-lt"/>
              <a:cs typeface="+mn-lt"/>
            </a:endParaRPr>
          </a:p>
          <a:p>
            <a:r>
              <a:rPr lang="en-US" sz="1100" dirty="0">
                <a:ea typeface="+mn-lt"/>
                <a:cs typeface="+mn-lt"/>
              </a:rPr>
              <a:t>proc reg data=final450.songs;</a:t>
            </a:r>
          </a:p>
          <a:p>
            <a:r>
              <a:rPr lang="en-US" sz="1100" dirty="0">
                <a:ea typeface="+mn-lt"/>
                <a:cs typeface="+mn-lt"/>
              </a:rPr>
              <a:t>model </a:t>
            </a:r>
            <a:r>
              <a:rPr lang="en-US" sz="1100" dirty="0" err="1">
                <a:ea typeface="+mn-lt"/>
                <a:cs typeface="+mn-lt"/>
              </a:rPr>
              <a:t>Total_Listens</a:t>
            </a:r>
            <a:r>
              <a:rPr lang="en-US" sz="1100" dirty="0">
                <a:ea typeface="+mn-lt"/>
                <a:cs typeface="+mn-lt"/>
              </a:rPr>
              <a:t> = Danceability Energy </a:t>
            </a:r>
            <a:r>
              <a:rPr lang="en-US" sz="1100" dirty="0" err="1">
                <a:ea typeface="+mn-lt"/>
                <a:cs typeface="+mn-lt"/>
              </a:rPr>
              <a:t>Speechiness</a:t>
            </a:r>
            <a:r>
              <a:rPr lang="en-US" sz="1100" dirty="0">
                <a:ea typeface="+mn-lt"/>
                <a:cs typeface="+mn-lt"/>
              </a:rPr>
              <a:t> </a:t>
            </a:r>
            <a:r>
              <a:rPr lang="en-US" sz="1100" dirty="0" err="1">
                <a:ea typeface="+mn-lt"/>
                <a:cs typeface="+mn-lt"/>
              </a:rPr>
              <a:t>Acousticness</a:t>
            </a:r>
            <a:r>
              <a:rPr lang="en-US" sz="1100" dirty="0">
                <a:ea typeface="+mn-lt"/>
                <a:cs typeface="+mn-lt"/>
              </a:rPr>
              <a:t> Liveness Valence Likes Comments / </a:t>
            </a:r>
            <a:r>
              <a:rPr lang="en-US" sz="1100" dirty="0" err="1">
                <a:ea typeface="+mn-lt"/>
                <a:cs typeface="+mn-lt"/>
              </a:rPr>
              <a:t>vif</a:t>
            </a:r>
            <a:r>
              <a:rPr lang="en-US" sz="1100" dirty="0">
                <a:ea typeface="+mn-lt"/>
                <a:cs typeface="+mn-lt"/>
              </a:rPr>
              <a:t>;</a:t>
            </a:r>
          </a:p>
          <a:p>
            <a:r>
              <a:rPr lang="en-US" sz="1100" dirty="0">
                <a:ea typeface="+mn-lt"/>
                <a:cs typeface="+mn-lt"/>
              </a:rPr>
              <a:t>run;</a:t>
            </a:r>
          </a:p>
          <a:p>
            <a:endParaRPr lang="en-US" sz="1100">
              <a:ea typeface="+mn-lt"/>
              <a:cs typeface="+mn-lt"/>
            </a:endParaRPr>
          </a:p>
          <a:p>
            <a:r>
              <a:rPr lang="en-US" sz="1100" dirty="0">
                <a:ea typeface="+mn-lt"/>
                <a:cs typeface="+mn-lt"/>
              </a:rPr>
              <a:t>proc reg data=final450.songs;</a:t>
            </a:r>
          </a:p>
          <a:p>
            <a:r>
              <a:rPr lang="en-US" sz="1100" dirty="0">
                <a:ea typeface="+mn-lt"/>
                <a:cs typeface="+mn-lt"/>
              </a:rPr>
              <a:t>model </a:t>
            </a:r>
            <a:r>
              <a:rPr lang="en-US" sz="1100" dirty="0" err="1">
                <a:ea typeface="+mn-lt"/>
                <a:cs typeface="+mn-lt"/>
              </a:rPr>
              <a:t>Total_Listens</a:t>
            </a:r>
            <a:r>
              <a:rPr lang="en-US" sz="1100" dirty="0">
                <a:ea typeface="+mn-lt"/>
                <a:cs typeface="+mn-lt"/>
              </a:rPr>
              <a:t> = Danceability Energy </a:t>
            </a:r>
            <a:r>
              <a:rPr lang="en-US" sz="1100" dirty="0" err="1">
                <a:ea typeface="+mn-lt"/>
                <a:cs typeface="+mn-lt"/>
              </a:rPr>
              <a:t>Speechiness</a:t>
            </a:r>
            <a:r>
              <a:rPr lang="en-US" sz="1100" dirty="0">
                <a:ea typeface="+mn-lt"/>
                <a:cs typeface="+mn-lt"/>
              </a:rPr>
              <a:t> </a:t>
            </a:r>
            <a:r>
              <a:rPr lang="en-US" sz="1100" dirty="0" err="1">
                <a:ea typeface="+mn-lt"/>
                <a:cs typeface="+mn-lt"/>
              </a:rPr>
              <a:t>Acousticness</a:t>
            </a:r>
            <a:r>
              <a:rPr lang="en-US" sz="1100" dirty="0">
                <a:ea typeface="+mn-lt"/>
                <a:cs typeface="+mn-lt"/>
              </a:rPr>
              <a:t> </a:t>
            </a:r>
            <a:r>
              <a:rPr lang="en-US" sz="1100" dirty="0" err="1">
                <a:ea typeface="+mn-lt"/>
                <a:cs typeface="+mn-lt"/>
              </a:rPr>
              <a:t>Instrumentalness</a:t>
            </a:r>
            <a:r>
              <a:rPr lang="en-US" sz="1100" dirty="0">
                <a:ea typeface="+mn-lt"/>
                <a:cs typeface="+mn-lt"/>
              </a:rPr>
              <a:t> Liveness Valence Key Loudness Tempo Seconds Likes Comments/selection=forward;</a:t>
            </a:r>
          </a:p>
          <a:p>
            <a:r>
              <a:rPr lang="en-US" sz="1100" dirty="0">
                <a:ea typeface="+mn-lt"/>
                <a:cs typeface="+mn-lt"/>
              </a:rPr>
              <a:t>run;</a:t>
            </a:r>
          </a:p>
          <a:p>
            <a:endParaRPr lang="en-US" sz="1100">
              <a:ea typeface="+mn-lt"/>
              <a:cs typeface="+mn-lt"/>
            </a:endParaRPr>
          </a:p>
          <a:p>
            <a:r>
              <a:rPr lang="en-US" sz="1100" dirty="0">
                <a:ea typeface="+mn-lt"/>
                <a:cs typeface="+mn-lt"/>
              </a:rPr>
              <a:t>proc reg data=final450.songs;</a:t>
            </a:r>
          </a:p>
          <a:p>
            <a:r>
              <a:rPr lang="en-US" sz="1100" dirty="0">
                <a:ea typeface="+mn-lt"/>
                <a:cs typeface="+mn-lt"/>
              </a:rPr>
              <a:t>model </a:t>
            </a:r>
            <a:r>
              <a:rPr lang="en-US" sz="1100" dirty="0" err="1">
                <a:ea typeface="+mn-lt"/>
                <a:cs typeface="+mn-lt"/>
              </a:rPr>
              <a:t>Total_Listens</a:t>
            </a:r>
            <a:r>
              <a:rPr lang="en-US" sz="1100" dirty="0">
                <a:ea typeface="+mn-lt"/>
                <a:cs typeface="+mn-lt"/>
              </a:rPr>
              <a:t> = Danceability Energy </a:t>
            </a:r>
            <a:r>
              <a:rPr lang="en-US" sz="1100" dirty="0" err="1">
                <a:ea typeface="+mn-lt"/>
                <a:cs typeface="+mn-lt"/>
              </a:rPr>
              <a:t>Speechiness</a:t>
            </a:r>
            <a:r>
              <a:rPr lang="en-US" sz="1100" dirty="0">
                <a:ea typeface="+mn-lt"/>
                <a:cs typeface="+mn-lt"/>
              </a:rPr>
              <a:t> </a:t>
            </a:r>
            <a:r>
              <a:rPr lang="en-US" sz="1100" dirty="0" err="1">
                <a:ea typeface="+mn-lt"/>
                <a:cs typeface="+mn-lt"/>
              </a:rPr>
              <a:t>Acousticness</a:t>
            </a:r>
            <a:r>
              <a:rPr lang="en-US" sz="1100" dirty="0">
                <a:ea typeface="+mn-lt"/>
                <a:cs typeface="+mn-lt"/>
              </a:rPr>
              <a:t> </a:t>
            </a:r>
            <a:r>
              <a:rPr lang="en-US" sz="1100" dirty="0" err="1">
                <a:ea typeface="+mn-lt"/>
                <a:cs typeface="+mn-lt"/>
              </a:rPr>
              <a:t>Instrumentalness</a:t>
            </a:r>
            <a:r>
              <a:rPr lang="en-US" sz="1100" dirty="0">
                <a:ea typeface="+mn-lt"/>
                <a:cs typeface="+mn-lt"/>
              </a:rPr>
              <a:t> Liveness Valence Key Loudness Tempo Seconds Likes Comments/selection=backward;</a:t>
            </a:r>
          </a:p>
          <a:p>
            <a:r>
              <a:rPr lang="en-US" sz="1100" dirty="0">
                <a:ea typeface="+mn-lt"/>
                <a:cs typeface="+mn-lt"/>
              </a:rPr>
              <a:t>run;</a:t>
            </a:r>
          </a:p>
          <a:p>
            <a:endParaRPr lang="en-US" sz="1100">
              <a:ea typeface="+mn-lt"/>
              <a:cs typeface="+mn-lt"/>
            </a:endParaRPr>
          </a:p>
          <a:p>
            <a:r>
              <a:rPr lang="en-US" sz="1100" dirty="0">
                <a:ea typeface="+mn-lt"/>
                <a:cs typeface="+mn-lt"/>
              </a:rPr>
              <a:t>proc reg data=final450.songs;</a:t>
            </a:r>
          </a:p>
          <a:p>
            <a:r>
              <a:rPr lang="en-US" sz="1100" dirty="0">
                <a:ea typeface="+mn-lt"/>
                <a:cs typeface="+mn-lt"/>
              </a:rPr>
              <a:t>model </a:t>
            </a:r>
            <a:r>
              <a:rPr lang="en-US" sz="1100" dirty="0" err="1">
                <a:ea typeface="+mn-lt"/>
                <a:cs typeface="+mn-lt"/>
              </a:rPr>
              <a:t>Total_Listens</a:t>
            </a:r>
            <a:r>
              <a:rPr lang="en-US" sz="1100" dirty="0">
                <a:ea typeface="+mn-lt"/>
                <a:cs typeface="+mn-lt"/>
              </a:rPr>
              <a:t> = Danceability Energy </a:t>
            </a:r>
            <a:r>
              <a:rPr lang="en-US" sz="1100" dirty="0" err="1">
                <a:ea typeface="+mn-lt"/>
                <a:cs typeface="+mn-lt"/>
              </a:rPr>
              <a:t>Speechiness</a:t>
            </a:r>
            <a:r>
              <a:rPr lang="en-US" sz="1100" dirty="0">
                <a:ea typeface="+mn-lt"/>
                <a:cs typeface="+mn-lt"/>
              </a:rPr>
              <a:t> </a:t>
            </a:r>
            <a:r>
              <a:rPr lang="en-US" sz="1100" dirty="0" err="1">
                <a:ea typeface="+mn-lt"/>
                <a:cs typeface="+mn-lt"/>
              </a:rPr>
              <a:t>Acousticness</a:t>
            </a:r>
            <a:r>
              <a:rPr lang="en-US" sz="1100" dirty="0">
                <a:ea typeface="+mn-lt"/>
                <a:cs typeface="+mn-lt"/>
              </a:rPr>
              <a:t> </a:t>
            </a:r>
            <a:r>
              <a:rPr lang="en-US" sz="1100" dirty="0" err="1">
                <a:ea typeface="+mn-lt"/>
                <a:cs typeface="+mn-lt"/>
              </a:rPr>
              <a:t>Instrumentalness</a:t>
            </a:r>
            <a:r>
              <a:rPr lang="en-US" sz="1100" dirty="0">
                <a:ea typeface="+mn-lt"/>
                <a:cs typeface="+mn-lt"/>
              </a:rPr>
              <a:t> Liveness Valence Key Loudness Tempo Seconds Likes Comments/selection=stepwise;</a:t>
            </a:r>
          </a:p>
          <a:p>
            <a:r>
              <a:rPr lang="en-US" sz="1100" dirty="0">
                <a:ea typeface="+mn-lt"/>
                <a:cs typeface="+mn-lt"/>
              </a:rPr>
              <a:t>run;</a:t>
            </a:r>
          </a:p>
          <a:p>
            <a:endParaRPr lang="en-US" sz="1100">
              <a:ea typeface="+mn-lt"/>
              <a:cs typeface="+mn-lt"/>
            </a:endParaRPr>
          </a:p>
          <a:p>
            <a:r>
              <a:rPr lang="en-US" sz="1100" dirty="0">
                <a:ea typeface="+mn-lt"/>
                <a:cs typeface="+mn-lt"/>
              </a:rPr>
              <a:t>proc reg data=final450.songs;</a:t>
            </a:r>
          </a:p>
          <a:p>
            <a:r>
              <a:rPr lang="en-US" sz="1100" dirty="0">
                <a:ea typeface="+mn-lt"/>
                <a:cs typeface="+mn-lt"/>
              </a:rPr>
              <a:t>model </a:t>
            </a:r>
            <a:r>
              <a:rPr lang="en-US" sz="1100" dirty="0" err="1">
                <a:ea typeface="+mn-lt"/>
                <a:cs typeface="+mn-lt"/>
              </a:rPr>
              <a:t>Total_Listens</a:t>
            </a:r>
            <a:r>
              <a:rPr lang="en-US" sz="1100" dirty="0">
                <a:ea typeface="+mn-lt"/>
                <a:cs typeface="+mn-lt"/>
              </a:rPr>
              <a:t> = Danceability Energy </a:t>
            </a:r>
            <a:r>
              <a:rPr lang="en-US" sz="1100" dirty="0" err="1">
                <a:ea typeface="+mn-lt"/>
                <a:cs typeface="+mn-lt"/>
              </a:rPr>
              <a:t>Speechiness</a:t>
            </a:r>
            <a:r>
              <a:rPr lang="en-US" sz="1100" dirty="0">
                <a:ea typeface="+mn-lt"/>
                <a:cs typeface="+mn-lt"/>
              </a:rPr>
              <a:t> </a:t>
            </a:r>
            <a:r>
              <a:rPr lang="en-US" sz="1100" dirty="0" err="1">
                <a:ea typeface="+mn-lt"/>
                <a:cs typeface="+mn-lt"/>
              </a:rPr>
              <a:t>Acousticness</a:t>
            </a:r>
            <a:r>
              <a:rPr lang="en-US" sz="1100" dirty="0">
                <a:ea typeface="+mn-lt"/>
                <a:cs typeface="+mn-lt"/>
              </a:rPr>
              <a:t> </a:t>
            </a:r>
            <a:r>
              <a:rPr lang="en-US" sz="1100" dirty="0" err="1">
                <a:ea typeface="+mn-lt"/>
                <a:cs typeface="+mn-lt"/>
              </a:rPr>
              <a:t>Instrumentalness</a:t>
            </a:r>
            <a:r>
              <a:rPr lang="en-US" sz="1100" dirty="0">
                <a:ea typeface="+mn-lt"/>
                <a:cs typeface="+mn-lt"/>
              </a:rPr>
              <a:t> Liveness Valence Key Loudness Tempo Seconds/</a:t>
            </a:r>
            <a:r>
              <a:rPr lang="en-US" sz="1100" dirty="0" err="1">
                <a:ea typeface="+mn-lt"/>
                <a:cs typeface="+mn-lt"/>
              </a:rPr>
              <a:t>vif</a:t>
            </a:r>
            <a:r>
              <a:rPr lang="en-US" sz="1100" dirty="0">
                <a:ea typeface="+mn-lt"/>
                <a:cs typeface="+mn-lt"/>
              </a:rPr>
              <a:t>;</a:t>
            </a:r>
          </a:p>
          <a:p>
            <a:r>
              <a:rPr lang="en-US" sz="1100" dirty="0">
                <a:ea typeface="+mn-lt"/>
                <a:cs typeface="+mn-lt"/>
              </a:rPr>
              <a:t>run;</a:t>
            </a:r>
          </a:p>
          <a:p>
            <a:pPr algn="l"/>
            <a:endParaRPr lang="en-US" dirty="0">
              <a:cs typeface="Calibri"/>
            </a:endParaRPr>
          </a:p>
        </p:txBody>
      </p:sp>
      <p:sp>
        <p:nvSpPr>
          <p:cNvPr id="5" name="TextBox 4">
            <a:extLst>
              <a:ext uri="{FF2B5EF4-FFF2-40B4-BE49-F238E27FC236}">
                <a16:creationId xmlns:a16="http://schemas.microsoft.com/office/drawing/2014/main" id="{D90C069D-E41F-EAE5-D668-7C280933F628}"/>
              </a:ext>
            </a:extLst>
          </p:cNvPr>
          <p:cNvSpPr txBox="1"/>
          <p:nvPr/>
        </p:nvSpPr>
        <p:spPr>
          <a:xfrm>
            <a:off x="7785877" y="1938693"/>
            <a:ext cx="2436326" cy="50013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100" b="0" i="0">
                <a:solidFill>
                  <a:srgbClr val="000000"/>
                </a:solidFill>
                <a:latin typeface="Calibri"/>
                <a:ea typeface="Segoe UI"/>
                <a:cs typeface="Segoe UI"/>
              </a:rPr>
              <a:t>proc reg data=final450.songs outest=final450.press press; </a:t>
            </a:r>
          </a:p>
          <a:p>
            <a:pPr algn="l" rtl="0"/>
            <a:r>
              <a:rPr lang="en-US" sz="1100" b="0" i="0">
                <a:solidFill>
                  <a:srgbClr val="000000"/>
                </a:solidFill>
                <a:latin typeface="Calibri"/>
                <a:ea typeface="Segoe UI"/>
                <a:cs typeface="Segoe UI"/>
              </a:rPr>
              <a:t>model Total_Listens = Danceability Energy Speechiness Acousticness Liveness Valence Likes Comments / vif; </a:t>
            </a:r>
          </a:p>
          <a:p>
            <a:pPr algn="l" rtl="0"/>
            <a:r>
              <a:rPr lang="en-US" sz="1100" b="0" i="0">
                <a:solidFill>
                  <a:srgbClr val="000000"/>
                </a:solidFill>
                <a:latin typeface="Calibri"/>
                <a:ea typeface="Segoe UI"/>
                <a:cs typeface="Segoe UI"/>
              </a:rPr>
              <a:t>plot rstudent.*(obs.); </a:t>
            </a:r>
          </a:p>
          <a:p>
            <a:pPr algn="l" rtl="0"/>
            <a:r>
              <a:rPr lang="en-US" sz="1100" b="0" i="0">
                <a:solidFill>
                  <a:srgbClr val="000000"/>
                </a:solidFill>
                <a:latin typeface="Calibri"/>
                <a:ea typeface="Segoe UI"/>
                <a:cs typeface="Segoe UI"/>
              </a:rPr>
              <a:t>run; </a:t>
            </a:r>
          </a:p>
          <a:p>
            <a:pPr algn="l" rtl="0"/>
            <a:r>
              <a:rPr lang="en-US" sz="1100" b="0" i="0">
                <a:solidFill>
                  <a:srgbClr val="000000"/>
                </a:solidFill>
                <a:latin typeface="Calibri"/>
                <a:ea typeface="Segoe UI"/>
                <a:cs typeface="Segoe UI"/>
              </a:rPr>
              <a:t>  </a:t>
            </a:r>
          </a:p>
          <a:p>
            <a:pPr algn="l" rtl="0"/>
            <a:r>
              <a:rPr lang="en-US" sz="1100" b="0" i="0">
                <a:solidFill>
                  <a:srgbClr val="000000"/>
                </a:solidFill>
                <a:latin typeface="Calibri"/>
                <a:ea typeface="Segoe UI"/>
                <a:cs typeface="Segoe UI"/>
              </a:rPr>
              <a:t>proc reg data=final450.songs noprint; </a:t>
            </a:r>
          </a:p>
          <a:p>
            <a:pPr algn="l" rtl="0"/>
            <a:r>
              <a:rPr lang="en-US" sz="1100" b="0" i="0">
                <a:solidFill>
                  <a:srgbClr val="000000"/>
                </a:solidFill>
                <a:latin typeface="Calibri"/>
                <a:ea typeface="Segoe UI"/>
                <a:cs typeface="Segoe UI"/>
              </a:rPr>
              <a:t>model Total_Listens = Danceability Energy Speechiness Acousticness Liveness Valence Likes Comments / influence press; </a:t>
            </a:r>
          </a:p>
          <a:p>
            <a:pPr algn="l" rtl="0"/>
            <a:r>
              <a:rPr lang="en-US" sz="1100" b="0" i="0">
                <a:solidFill>
                  <a:srgbClr val="000000"/>
                </a:solidFill>
                <a:latin typeface="Calibri"/>
                <a:ea typeface="Segoe UI"/>
                <a:cs typeface="Segoe UI"/>
              </a:rPr>
              <a:t>output out=final450.mainresiduals h=leverage residual=res rstudent=rstudent_res cookd=cooks covratio=covratio dffits=fits; </a:t>
            </a:r>
          </a:p>
          <a:p>
            <a:pPr algn="l" rtl="0"/>
            <a:r>
              <a:rPr lang="en-US" sz="1100" b="0" i="0">
                <a:solidFill>
                  <a:srgbClr val="000000"/>
                </a:solidFill>
                <a:latin typeface="Calibri"/>
                <a:ea typeface="Segoe UI"/>
                <a:cs typeface="Segoe UI"/>
              </a:rPr>
              <a:t>run; </a:t>
            </a:r>
          </a:p>
          <a:p>
            <a:pPr algn="l" rtl="0"/>
            <a:r>
              <a:rPr lang="en-US" sz="1100" b="0" i="0">
                <a:solidFill>
                  <a:srgbClr val="000000"/>
                </a:solidFill>
                <a:latin typeface="Calibri"/>
                <a:ea typeface="Segoe UI"/>
                <a:cs typeface="Segoe UI"/>
              </a:rPr>
              <a:t>  </a:t>
            </a:r>
          </a:p>
          <a:p>
            <a:pPr algn="l" rtl="0"/>
            <a:r>
              <a:rPr lang="en-US" sz="1100" b="0" i="0">
                <a:solidFill>
                  <a:srgbClr val="000000"/>
                </a:solidFill>
                <a:latin typeface="Calibri"/>
                <a:ea typeface="Segoe UI"/>
                <a:cs typeface="Segoe UI"/>
              </a:rPr>
              <a:t>proc reg data=final450.songs; </a:t>
            </a:r>
          </a:p>
          <a:p>
            <a:pPr algn="l" rtl="0"/>
            <a:r>
              <a:rPr lang="en-US" sz="1100" b="0" i="0">
                <a:solidFill>
                  <a:srgbClr val="000000"/>
                </a:solidFill>
                <a:latin typeface="Calibri"/>
                <a:ea typeface="Segoe UI"/>
                <a:cs typeface="Segoe UI"/>
              </a:rPr>
              <a:t>model Total_Listens = Danceability Energy Speechiness Acousticness Liveness Valence Likes Comments / influence; </a:t>
            </a:r>
          </a:p>
          <a:p>
            <a:pPr algn="l" rtl="0"/>
            <a:r>
              <a:rPr lang="en-US" sz="1100" b="0" i="0">
                <a:solidFill>
                  <a:srgbClr val="000000"/>
                </a:solidFill>
                <a:latin typeface="Calibri"/>
                <a:ea typeface="Segoe UI"/>
                <a:cs typeface="Segoe UI"/>
              </a:rPr>
              <a:t>run; </a:t>
            </a:r>
          </a:p>
          <a:p>
            <a:pPr algn="l" rtl="0"/>
            <a:r>
              <a:rPr lang="en-US" sz="1100" b="0" i="0">
                <a:solidFill>
                  <a:srgbClr val="000000"/>
                </a:solidFill>
                <a:latin typeface="Calibri"/>
                <a:ea typeface="Segoe UI"/>
                <a:cs typeface="Segoe UI"/>
              </a:rPr>
              <a:t>  </a:t>
            </a:r>
          </a:p>
          <a:p>
            <a:pPr algn="l" rtl="0"/>
            <a:r>
              <a:rPr lang="en-US" sz="1100" b="0" i="0">
                <a:solidFill>
                  <a:srgbClr val="000000"/>
                </a:solidFill>
                <a:latin typeface="Calibri"/>
                <a:ea typeface="Segoe UI"/>
                <a:cs typeface="Segoe UI"/>
              </a:rPr>
              <a:t>proc sort data=final450.mainresiduals; </a:t>
            </a:r>
          </a:p>
          <a:p>
            <a:pPr algn="l" rtl="0"/>
            <a:r>
              <a:rPr lang="en-US" sz="1100" b="0" i="0">
                <a:solidFill>
                  <a:srgbClr val="000000"/>
                </a:solidFill>
                <a:latin typeface="Calibri"/>
                <a:ea typeface="Segoe UI"/>
                <a:cs typeface="Segoe UI"/>
              </a:rPr>
              <a:t>by descending leverage; </a:t>
            </a:r>
          </a:p>
          <a:p>
            <a:pPr algn="l" rtl="0"/>
            <a:r>
              <a:rPr lang="en-US" sz="1100" b="0" i="0">
                <a:solidFill>
                  <a:srgbClr val="000000"/>
                </a:solidFill>
                <a:latin typeface="Calibri"/>
                <a:ea typeface="Segoe UI"/>
                <a:cs typeface="Segoe UI"/>
              </a:rPr>
              <a:t>run; </a:t>
            </a:r>
            <a:endParaRPr lang="en-US"/>
          </a:p>
        </p:txBody>
      </p:sp>
      <p:sp>
        <p:nvSpPr>
          <p:cNvPr id="6" name="TextBox 5">
            <a:extLst>
              <a:ext uri="{FF2B5EF4-FFF2-40B4-BE49-F238E27FC236}">
                <a16:creationId xmlns:a16="http://schemas.microsoft.com/office/drawing/2014/main" id="{E2E59679-4379-4DBB-3434-0E4A58F2DCD1}"/>
              </a:ext>
            </a:extLst>
          </p:cNvPr>
          <p:cNvSpPr txBox="1"/>
          <p:nvPr/>
        </p:nvSpPr>
        <p:spPr>
          <a:xfrm>
            <a:off x="10077060" y="77755"/>
            <a:ext cx="2031999" cy="71404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ea typeface="+mn-lt"/>
                <a:cs typeface="+mn-lt"/>
              </a:rPr>
              <a:t>proc print data=final450.mainresiduals;</a:t>
            </a:r>
          </a:p>
          <a:p>
            <a:r>
              <a:rPr lang="en-US" sz="1100" dirty="0">
                <a:ea typeface="+mn-lt"/>
                <a:cs typeface="+mn-lt"/>
              </a:rPr>
              <a:t>run;</a:t>
            </a:r>
          </a:p>
          <a:p>
            <a:endParaRPr lang="en-US" sz="1100" dirty="0">
              <a:ea typeface="+mn-lt"/>
              <a:cs typeface="+mn-lt"/>
            </a:endParaRPr>
          </a:p>
          <a:p>
            <a:r>
              <a:rPr lang="en-US" sz="1100" dirty="0">
                <a:ea typeface="+mn-lt"/>
                <a:cs typeface="+mn-lt"/>
              </a:rPr>
              <a:t>proc sort data=final450.mainresiduals;</a:t>
            </a:r>
          </a:p>
          <a:p>
            <a:r>
              <a:rPr lang="en-US" sz="1100" dirty="0">
                <a:ea typeface="+mn-lt"/>
                <a:cs typeface="+mn-lt"/>
              </a:rPr>
              <a:t>by descending </a:t>
            </a:r>
            <a:r>
              <a:rPr lang="en-US" sz="1100" dirty="0" err="1">
                <a:ea typeface="+mn-lt"/>
                <a:cs typeface="+mn-lt"/>
              </a:rPr>
              <a:t>rstudent_res</a:t>
            </a:r>
            <a:r>
              <a:rPr lang="en-US" sz="1100" dirty="0">
                <a:ea typeface="+mn-lt"/>
                <a:cs typeface="+mn-lt"/>
              </a:rPr>
              <a:t>;</a:t>
            </a:r>
          </a:p>
          <a:p>
            <a:r>
              <a:rPr lang="en-US" sz="1100" dirty="0">
                <a:ea typeface="+mn-lt"/>
                <a:cs typeface="+mn-lt"/>
              </a:rPr>
              <a:t>run;</a:t>
            </a:r>
          </a:p>
          <a:p>
            <a:endParaRPr lang="en-US" sz="1100" dirty="0">
              <a:ea typeface="+mn-lt"/>
              <a:cs typeface="+mn-lt"/>
            </a:endParaRPr>
          </a:p>
          <a:p>
            <a:r>
              <a:rPr lang="en-US" sz="1100" dirty="0">
                <a:ea typeface="+mn-lt"/>
                <a:cs typeface="+mn-lt"/>
              </a:rPr>
              <a:t>proc print data=final450.mainresiduals;</a:t>
            </a:r>
          </a:p>
          <a:p>
            <a:r>
              <a:rPr lang="en-US" sz="1100" dirty="0">
                <a:ea typeface="+mn-lt"/>
                <a:cs typeface="+mn-lt"/>
              </a:rPr>
              <a:t>run;</a:t>
            </a:r>
          </a:p>
          <a:p>
            <a:endParaRPr lang="en-US" sz="1100" dirty="0">
              <a:ea typeface="+mn-lt"/>
              <a:cs typeface="+mn-lt"/>
            </a:endParaRPr>
          </a:p>
          <a:p>
            <a:r>
              <a:rPr lang="en-US" sz="1100" dirty="0">
                <a:ea typeface="+mn-lt"/>
                <a:cs typeface="+mn-lt"/>
              </a:rPr>
              <a:t>proc sort data=final450.mainresiduals;</a:t>
            </a:r>
          </a:p>
          <a:p>
            <a:r>
              <a:rPr lang="en-US" sz="1100" dirty="0">
                <a:ea typeface="+mn-lt"/>
                <a:cs typeface="+mn-lt"/>
              </a:rPr>
              <a:t>by descending cooks;</a:t>
            </a:r>
          </a:p>
          <a:p>
            <a:r>
              <a:rPr lang="en-US" sz="1100" dirty="0">
                <a:ea typeface="+mn-lt"/>
                <a:cs typeface="+mn-lt"/>
              </a:rPr>
              <a:t>run;</a:t>
            </a:r>
          </a:p>
          <a:p>
            <a:endParaRPr lang="en-US" sz="1100" dirty="0">
              <a:ea typeface="+mn-lt"/>
              <a:cs typeface="+mn-lt"/>
            </a:endParaRPr>
          </a:p>
          <a:p>
            <a:r>
              <a:rPr lang="en-US" sz="1100" dirty="0">
                <a:ea typeface="+mn-lt"/>
                <a:cs typeface="+mn-lt"/>
              </a:rPr>
              <a:t>proc print data=final450.mainresiduals;</a:t>
            </a:r>
          </a:p>
          <a:p>
            <a:r>
              <a:rPr lang="en-US" sz="1100" dirty="0">
                <a:ea typeface="+mn-lt"/>
                <a:cs typeface="+mn-lt"/>
              </a:rPr>
              <a:t>run;</a:t>
            </a:r>
          </a:p>
          <a:p>
            <a:endParaRPr lang="en-US" sz="1100" dirty="0">
              <a:ea typeface="+mn-lt"/>
              <a:cs typeface="+mn-lt"/>
            </a:endParaRPr>
          </a:p>
          <a:p>
            <a:r>
              <a:rPr lang="en-US" sz="1100" dirty="0">
                <a:ea typeface="+mn-lt"/>
                <a:cs typeface="+mn-lt"/>
              </a:rPr>
              <a:t>proc sort data=final450.mainresiduals;</a:t>
            </a:r>
          </a:p>
          <a:p>
            <a:r>
              <a:rPr lang="en-US" sz="1100" dirty="0">
                <a:ea typeface="+mn-lt"/>
                <a:cs typeface="+mn-lt"/>
              </a:rPr>
              <a:t>by descending </a:t>
            </a:r>
            <a:r>
              <a:rPr lang="en-US" sz="1100" dirty="0" err="1">
                <a:ea typeface="+mn-lt"/>
                <a:cs typeface="+mn-lt"/>
              </a:rPr>
              <a:t>covratio</a:t>
            </a:r>
            <a:r>
              <a:rPr lang="en-US" sz="1100" dirty="0">
                <a:ea typeface="+mn-lt"/>
                <a:cs typeface="+mn-lt"/>
              </a:rPr>
              <a:t>;</a:t>
            </a:r>
          </a:p>
          <a:p>
            <a:r>
              <a:rPr lang="en-US" sz="1100" dirty="0">
                <a:ea typeface="+mn-lt"/>
                <a:cs typeface="+mn-lt"/>
              </a:rPr>
              <a:t>run;</a:t>
            </a:r>
          </a:p>
          <a:p>
            <a:endParaRPr lang="en-US" sz="1100" dirty="0">
              <a:ea typeface="+mn-lt"/>
              <a:cs typeface="+mn-lt"/>
            </a:endParaRPr>
          </a:p>
          <a:p>
            <a:r>
              <a:rPr lang="en-US" sz="1100" dirty="0">
                <a:ea typeface="+mn-lt"/>
                <a:cs typeface="+mn-lt"/>
              </a:rPr>
              <a:t>proc print data=final450.mainresiduals;</a:t>
            </a:r>
          </a:p>
          <a:p>
            <a:r>
              <a:rPr lang="en-US" sz="1100" dirty="0">
                <a:ea typeface="+mn-lt"/>
                <a:cs typeface="+mn-lt"/>
              </a:rPr>
              <a:t>run;</a:t>
            </a:r>
          </a:p>
          <a:p>
            <a:endParaRPr lang="en-US" sz="1100" dirty="0">
              <a:ea typeface="+mn-lt"/>
              <a:cs typeface="+mn-lt"/>
            </a:endParaRPr>
          </a:p>
          <a:p>
            <a:r>
              <a:rPr lang="en-US" sz="1100" dirty="0">
                <a:ea typeface="+mn-lt"/>
                <a:cs typeface="+mn-lt"/>
              </a:rPr>
              <a:t>proc sort data=final450.mainresiduals;</a:t>
            </a:r>
          </a:p>
          <a:p>
            <a:r>
              <a:rPr lang="en-US" sz="1100" dirty="0">
                <a:ea typeface="+mn-lt"/>
                <a:cs typeface="+mn-lt"/>
              </a:rPr>
              <a:t>by descending fits;</a:t>
            </a:r>
          </a:p>
          <a:p>
            <a:r>
              <a:rPr lang="en-US" sz="1100" dirty="0">
                <a:ea typeface="+mn-lt"/>
                <a:cs typeface="+mn-lt"/>
              </a:rPr>
              <a:t>run;</a:t>
            </a:r>
          </a:p>
          <a:p>
            <a:endParaRPr lang="en-US" sz="1100" dirty="0">
              <a:ea typeface="+mn-lt"/>
              <a:cs typeface="+mn-lt"/>
            </a:endParaRPr>
          </a:p>
          <a:p>
            <a:r>
              <a:rPr lang="en-US" sz="1100" dirty="0">
                <a:ea typeface="+mn-lt"/>
                <a:cs typeface="+mn-lt"/>
              </a:rPr>
              <a:t>proc print data=final450.mainresiduals;</a:t>
            </a:r>
          </a:p>
          <a:p>
            <a:r>
              <a:rPr lang="en-US" sz="1100" dirty="0">
                <a:ea typeface="+mn-lt"/>
                <a:cs typeface="+mn-lt"/>
              </a:rPr>
              <a:t>run;</a:t>
            </a:r>
          </a:p>
          <a:p>
            <a:endParaRPr lang="en-US" sz="1100" dirty="0">
              <a:ea typeface="+mn-lt"/>
              <a:cs typeface="+mn-lt"/>
            </a:endParaRPr>
          </a:p>
          <a:p>
            <a:pPr algn="l"/>
            <a:endParaRPr lang="en-US" dirty="0">
              <a:cs typeface="Calibri"/>
            </a:endParaRPr>
          </a:p>
        </p:txBody>
      </p:sp>
    </p:spTree>
    <p:extLst>
      <p:ext uri="{BB962C8B-B14F-4D97-AF65-F5344CB8AC3E}">
        <p14:creationId xmlns:p14="http://schemas.microsoft.com/office/powerpoint/2010/main" val="2967525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4A7E5-030E-9DBD-0D8B-CCA5AAF082C2}"/>
              </a:ext>
            </a:extLst>
          </p:cNvPr>
          <p:cNvSpPr>
            <a:spLocks noGrp="1"/>
          </p:cNvSpPr>
          <p:nvPr>
            <p:ph type="title"/>
          </p:nvPr>
        </p:nvSpPr>
        <p:spPr>
          <a:solidFill>
            <a:schemeClr val="accent1">
              <a:lumMod val="40000"/>
              <a:lumOff val="60000"/>
            </a:schemeClr>
          </a:solidFill>
        </p:spPr>
        <p:txBody>
          <a:bodyPr/>
          <a:lstStyle/>
          <a:p>
            <a:r>
              <a:rPr lang="en-US" dirty="0">
                <a:cs typeface="Calibri Light"/>
              </a:rPr>
              <a:t>Reference Page</a:t>
            </a:r>
            <a:endParaRPr lang="en-US" dirty="0"/>
          </a:p>
        </p:txBody>
      </p:sp>
      <p:sp>
        <p:nvSpPr>
          <p:cNvPr id="3" name="Content Placeholder 2">
            <a:extLst>
              <a:ext uri="{FF2B5EF4-FFF2-40B4-BE49-F238E27FC236}">
                <a16:creationId xmlns:a16="http://schemas.microsoft.com/office/drawing/2014/main" id="{130573E2-66F6-2887-2B38-C5E605451390}"/>
              </a:ext>
            </a:extLst>
          </p:cNvPr>
          <p:cNvSpPr>
            <a:spLocks noGrp="1"/>
          </p:cNvSpPr>
          <p:nvPr>
            <p:ph idx="1"/>
          </p:nvPr>
        </p:nvSpPr>
        <p:spPr>
          <a:xfrm>
            <a:off x="599751" y="2074441"/>
            <a:ext cx="10515600" cy="4351338"/>
          </a:xfrm>
        </p:spPr>
        <p:txBody>
          <a:bodyPr vert="horz" lIns="91440" tIns="45720" rIns="91440" bIns="45720" rtlCol="0" anchor="t">
            <a:normAutofit/>
          </a:bodyPr>
          <a:lstStyle/>
          <a:p>
            <a:r>
              <a:rPr lang="en-US" dirty="0">
                <a:ea typeface="+mn-lt"/>
                <a:cs typeface="+mn-lt"/>
              </a:rPr>
              <a:t>Rastelli, S. (2023, March 20). </a:t>
            </a:r>
            <a:r>
              <a:rPr lang="en-US" i="1" dirty="0">
                <a:ea typeface="+mn-lt"/>
                <a:cs typeface="+mn-lt"/>
              </a:rPr>
              <a:t>Spotify and YouTube</a:t>
            </a:r>
            <a:r>
              <a:rPr lang="en-US" dirty="0">
                <a:ea typeface="+mn-lt"/>
                <a:cs typeface="+mn-lt"/>
              </a:rPr>
              <a:t>. Kaggle. Retrieved April 20, 2023, from </a:t>
            </a:r>
            <a:r>
              <a:rPr lang="en-US" u="sng" dirty="0">
                <a:solidFill>
                  <a:srgbClr val="0563C1"/>
                </a:solidFill>
                <a:ea typeface="+mn-lt"/>
                <a:cs typeface="+mn-lt"/>
                <a:hlinkClick r:id="rId2"/>
              </a:rPr>
              <a:t>https://www.kaggle.com/datasets/salvatorerastelli/spotify-and-youtube</a:t>
            </a:r>
            <a:endParaRPr lang="en-US">
              <a:ea typeface="+mn-lt"/>
              <a:cs typeface="+mn-lt"/>
            </a:endParaRPr>
          </a:p>
          <a:p>
            <a:r>
              <a:rPr lang="en-US" dirty="0">
                <a:ea typeface="+mn-lt"/>
                <a:cs typeface="+mn-lt"/>
              </a:rPr>
              <a:t>Wikimedia Foundation. (2023, February 28). </a:t>
            </a:r>
            <a:r>
              <a:rPr lang="en-US" i="1" dirty="0">
                <a:ea typeface="+mn-lt"/>
                <a:cs typeface="+mn-lt"/>
              </a:rPr>
              <a:t>Pitch class</a:t>
            </a:r>
            <a:r>
              <a:rPr lang="en-US" dirty="0">
                <a:ea typeface="+mn-lt"/>
                <a:cs typeface="+mn-lt"/>
              </a:rPr>
              <a:t>. Wikipedia. Retrieved April 20, 2023, from </a:t>
            </a:r>
            <a:r>
              <a:rPr lang="en-US" u="sng" dirty="0">
                <a:solidFill>
                  <a:srgbClr val="0563C1"/>
                </a:solidFill>
                <a:ea typeface="+mn-lt"/>
                <a:cs typeface="+mn-lt"/>
                <a:hlinkClick r:id="rId3"/>
              </a:rPr>
              <a:t>https://en.wikipedia.org/wiki/Pitch_class</a:t>
            </a:r>
            <a:endParaRPr lang="en-US">
              <a:ea typeface="+mn-lt"/>
              <a:cs typeface="+mn-lt"/>
            </a:endParaRPr>
          </a:p>
          <a:p>
            <a:endParaRPr lang="en-US" dirty="0">
              <a:cs typeface="Calibri"/>
            </a:endParaRPr>
          </a:p>
        </p:txBody>
      </p:sp>
    </p:spTree>
    <p:extLst>
      <p:ext uri="{BB962C8B-B14F-4D97-AF65-F5344CB8AC3E}">
        <p14:creationId xmlns:p14="http://schemas.microsoft.com/office/powerpoint/2010/main" val="35070131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2595</Words>
  <Application>Microsoft Office PowerPoint</Application>
  <PresentationFormat>Widescreen</PresentationFormat>
  <Paragraphs>234</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Calibri,Sans-Serif</vt:lpstr>
      <vt:lpstr>office theme</vt:lpstr>
      <vt:lpstr>Musical Regression</vt:lpstr>
      <vt:lpstr>What are we Doing?</vt:lpstr>
      <vt:lpstr>Objectives</vt:lpstr>
      <vt:lpstr>Our Data Set</vt:lpstr>
      <vt:lpstr>Variables: Pt.1</vt:lpstr>
      <vt:lpstr>Variables: Pt.2</vt:lpstr>
      <vt:lpstr>Variables: Pt.3</vt:lpstr>
      <vt:lpstr>Variables: Pt.4</vt:lpstr>
      <vt:lpstr>Variables: Pt.5</vt:lpstr>
      <vt:lpstr>Variables: Pt.6</vt:lpstr>
      <vt:lpstr>Means Procedure</vt:lpstr>
      <vt:lpstr>Frequency Procedure</vt:lpstr>
      <vt:lpstr>Multiple Linear Regression Test Original Model</vt:lpstr>
      <vt:lpstr>Fit Diagnostics</vt:lpstr>
      <vt:lpstr>Different Model Approaches</vt:lpstr>
      <vt:lpstr>Model 1</vt:lpstr>
      <vt:lpstr>Forward Selection Technique</vt:lpstr>
      <vt:lpstr>Backward Elimination Technique</vt:lpstr>
      <vt:lpstr>Stepwise Selection Technique</vt:lpstr>
      <vt:lpstr>Oh my... Do Not Remove Likes and Comments</vt:lpstr>
      <vt:lpstr>Selected Model</vt:lpstr>
      <vt:lpstr>Fit Diagnostics for our Model</vt:lpstr>
      <vt:lpstr>Leverage and Influential Points</vt:lpstr>
      <vt:lpstr>Leverage and Influential Points Cont.</vt:lpstr>
      <vt:lpstr>Leverage and Influential Points Cont.</vt:lpstr>
      <vt:lpstr>Leverage and Influential Points Cont.</vt:lpstr>
      <vt:lpstr>Predictive Capability of our Model</vt:lpstr>
      <vt:lpstr>Conclusions:</vt:lpstr>
      <vt:lpstr>Code:</vt:lpstr>
      <vt:lpstr>Reference Page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Mueller, Christopher J</cp:lastModifiedBy>
  <cp:revision>841</cp:revision>
  <dcterms:created xsi:type="dcterms:W3CDTF">2023-04-09T03:30:29Z</dcterms:created>
  <dcterms:modified xsi:type="dcterms:W3CDTF">2026-01-03T14:06:04Z</dcterms:modified>
</cp:coreProperties>
</file>